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2"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0CBBD69-148F-4753-C2E0-8B3483B79C1D}">
          <p14:sldIdLst>
            <p14:sldId id="256"/>
          </p14:sldIdLst>
        </p14:section>
        <p14:section name="Data" id="{86416AD0-4C61-3C0E-B99D-F5B4CC9FF5E0}">
          <p14:sldIdLst>
            <p14:sldId id="257"/>
            <p14:sldId id="258"/>
          </p14:sldIdLst>
        </p14:section>
        <p14:section name="Insights" id="{D9E52E68-B468-E000-C814-C3A9A8C1DD74}">
          <p14:sldIdLst>
            <p14:sldId id="259"/>
            <p14:sldId id="260"/>
            <p14:sldId id="261"/>
            <p14:sldId id="262"/>
            <p14:sldId id="263"/>
            <p14:sldId id="264"/>
            <p14:sldId id="265"/>
          </p14:sldIdLst>
        </p14:section>
        <p14:section name="Recommendations" id="{2FCD1B82-C7BC-C8E6-5144-14986ECBB3F1}">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Revenue</c:v>
                </c:pt>
              </c:strCache>
            </c:strRef>
          </c:tx>
          <c:spPr>
            <a:solidFill>
              <a:schemeClr val="accent1"/>
            </a:solidFill>
            <a:ln w="9525" cap="flat">
              <a:solidFill>
                <a:srgbClr val="F9F9F9"/>
              </a:solidFill>
              <a:prstDash val="solid"/>
              <a:round/>
            </a:ln>
            <a:effectLst/>
          </c:spPr>
          <c:dPt>
            <c:idx val="0"/>
            <c:bubble3D val="0"/>
            <c:spPr>
              <a:solidFill>
                <a:srgbClr val="3B2F1E"/>
              </a:solidFill>
              <a:ln w="25400" cap="flat">
                <a:solidFill>
                  <a:srgbClr val="FBF8F1"/>
                </a:solidFill>
                <a:prstDash val="solid"/>
                <a:round/>
              </a:ln>
              <a:effectLst/>
            </c:spPr>
            <c:extLst>
              <c:ext xmlns:c16="http://schemas.microsoft.com/office/drawing/2014/chart" uri="{C3380CC4-5D6E-409C-BE32-E72D297353CC}">
                <c16:uniqueId val="{00000001-12A5-48C2-846B-9381CF3713DB}"/>
              </c:ext>
            </c:extLst>
          </c:dPt>
          <c:dPt>
            <c:idx val="1"/>
            <c:bubble3D val="0"/>
            <c:spPr>
              <a:solidFill>
                <a:srgbClr val="B8892B"/>
              </a:solidFill>
              <a:ln w="25400" cap="flat">
                <a:solidFill>
                  <a:srgbClr val="FBF8F1"/>
                </a:solidFill>
                <a:prstDash val="solid"/>
                <a:round/>
              </a:ln>
              <a:effectLst/>
            </c:spPr>
            <c:extLst>
              <c:ext xmlns:c16="http://schemas.microsoft.com/office/drawing/2014/chart" uri="{C3380CC4-5D6E-409C-BE32-E72D297353CC}">
                <c16:uniqueId val="{00000003-12A5-48C2-846B-9381CF3713DB}"/>
              </c:ext>
            </c:extLst>
          </c:dPt>
          <c:dLbls>
            <c:dLbl>
              <c:idx val="0"/>
              <c:numFmt formatCode="0.0%" sourceLinked="0"/>
              <c:spPr/>
              <c:txPr>
                <a:bodyPr/>
                <a:lstStyle/>
                <a:p>
                  <a:pPr>
                    <a:defRPr sz="1600" b="1"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12A5-48C2-846B-9381CF3713DB}"/>
                </c:ext>
              </c:extLst>
            </c:dLbl>
            <c:dLbl>
              <c:idx val="1"/>
              <c:numFmt formatCode="0.0%" sourceLinked="0"/>
              <c:spPr/>
              <c:txPr>
                <a:bodyPr/>
                <a:lstStyle/>
                <a:p>
                  <a:pPr>
                    <a:defRPr sz="1600" b="1"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12A5-48C2-846B-9381CF3713DB}"/>
                </c:ext>
              </c:extLst>
            </c:dLbl>
            <c:numFmt formatCode="0.0%" sourceLinked="0"/>
            <c:spPr>
              <a:noFill/>
              <a:ln>
                <a:noFill/>
              </a:ln>
              <a:effectLst/>
            </c:spPr>
            <c:txPr>
              <a:bodyPr/>
              <a:lstStyle/>
              <a:p>
                <a:pPr>
                  <a:defRPr sz="1800" b="1"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Male</c:v>
                </c:pt>
                <c:pt idx="1">
                  <c:v>Female</c:v>
                </c:pt>
              </c:strCache>
            </c:strRef>
          </c:cat>
          <c:val>
            <c:numRef>
              <c:f>Sheet1!$B$2:$B$3</c:f>
              <c:numCache>
                <c:formatCode>General</c:formatCode>
                <c:ptCount val="2"/>
                <c:pt idx="0">
                  <c:v>157890</c:v>
                </c:pt>
                <c:pt idx="1">
                  <c:v>75191</c:v>
                </c:pt>
              </c:numCache>
            </c:numRef>
          </c:val>
          <c:extLst>
            <c:ext xmlns:c16="http://schemas.microsoft.com/office/drawing/2014/chart" uri="{C3380CC4-5D6E-409C-BE32-E72D297353CC}">
              <c16:uniqueId val="{00000004-12A5-48C2-846B-9381CF3713DB}"/>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1400">
              <a:solidFill>
                <a:srgbClr val="3B2F1E"/>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3B2F1E"/>
                </a:solidFill>
                <a:latin typeface="+mn-lt"/>
              </a:defRPr>
            </a:pPr>
            <a:r>
              <a:rPr lang="en-US" sz="1600" b="0" i="0" u="none" strike="noStrike">
                <a:solidFill>
                  <a:srgbClr val="3B2F1E"/>
                </a:solidFill>
                <a:latin typeface="+mn-lt"/>
              </a:rPr>
              <a:t>Average purchase amount by shipping type (USD)</a:t>
            </a:r>
          </a:p>
        </c:rich>
      </c:tx>
      <c:overlay val="0"/>
    </c:title>
    <c:autoTitleDeleted val="0"/>
    <c:plotArea>
      <c:layout/>
      <c:barChart>
        <c:barDir val="bar"/>
        <c:grouping val="clustered"/>
        <c:varyColors val="0"/>
        <c:ser>
          <c:idx val="0"/>
          <c:order val="0"/>
          <c:tx>
            <c:strRef>
              <c:f>Sheet1!$B$1</c:f>
              <c:strCache>
                <c:ptCount val="1"/>
                <c:pt idx="0">
                  <c:v>Average purchase amount</c:v>
                </c:pt>
              </c:strCache>
            </c:strRef>
          </c:tx>
          <c:spPr>
            <a:solidFill>
              <a:srgbClr val="B8892B"/>
            </a:solidFill>
            <a:effectLst/>
          </c:spPr>
          <c:invertIfNegative val="0"/>
          <c:dLbls>
            <c:numFmt formatCode="\$0.00" sourceLinked="0"/>
            <c:spPr>
              <a:noFill/>
              <a:ln>
                <a:noFill/>
              </a:ln>
              <a:effectLst/>
            </c:spPr>
            <c:txPr>
              <a:bodyPr/>
              <a:lstStyle/>
              <a:p>
                <a:pPr>
                  <a:defRPr sz="1400" b="0" i="0" u="none" strike="noStrike">
                    <a:solidFill>
                      <a:srgbClr val="3B2F1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2-Day Shipping</c:v>
                </c:pt>
                <c:pt idx="1">
                  <c:v>Express</c:v>
                </c:pt>
                <c:pt idx="2">
                  <c:v>Free Shipping</c:v>
                </c:pt>
                <c:pt idx="3">
                  <c:v>Store Pickup</c:v>
                </c:pt>
                <c:pt idx="4">
                  <c:v>Next Day Air</c:v>
                </c:pt>
                <c:pt idx="5">
                  <c:v>Standard</c:v>
                </c:pt>
              </c:strCache>
            </c:strRef>
          </c:cat>
          <c:val>
            <c:numRef>
              <c:f>Sheet1!$B$2:$B$7</c:f>
              <c:numCache>
                <c:formatCode>General</c:formatCode>
                <c:ptCount val="6"/>
                <c:pt idx="0">
                  <c:v>60.73</c:v>
                </c:pt>
                <c:pt idx="1">
                  <c:v>60.48</c:v>
                </c:pt>
                <c:pt idx="2">
                  <c:v>60.41</c:v>
                </c:pt>
                <c:pt idx="3">
                  <c:v>59.89</c:v>
                </c:pt>
                <c:pt idx="4">
                  <c:v>58.63</c:v>
                </c:pt>
                <c:pt idx="5">
                  <c:v>58.46</c:v>
                </c:pt>
              </c:numCache>
            </c:numRef>
          </c:val>
          <c:extLst>
            <c:ext xmlns:c16="http://schemas.microsoft.com/office/drawing/2014/chart" uri="{C3380CC4-5D6E-409C-BE32-E72D297353CC}">
              <c16:uniqueId val="{00000000-3650-4D21-AD40-96EA49B64651}"/>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3B2F1E"/>
                </a:solidFill>
                <a:latin typeface="+mn-lt"/>
              </a:defRPr>
            </a:pPr>
            <a:endParaRPr lang="en-US"/>
          </a:p>
        </c:txPr>
        <c:crossAx val="2094734552"/>
        <c:crosses val="autoZero"/>
        <c:auto val="1"/>
        <c:lblAlgn val="ctr"/>
        <c:lblOffset val="100"/>
        <c:noMultiLvlLbl val="1"/>
      </c:catAx>
      <c:valAx>
        <c:axId val="2094734552"/>
        <c:scaling>
          <c:orientation val="minMax"/>
          <c:max val="75"/>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of customers subscribe</c:v>
                </c:pt>
              </c:strCache>
            </c:strRef>
          </c:tx>
          <c:spPr>
            <a:solidFill>
              <a:schemeClr val="accent1"/>
            </a:solidFill>
            <a:ln w="9525" cap="flat">
              <a:solidFill>
                <a:srgbClr val="F9F9F9"/>
              </a:solidFill>
              <a:prstDash val="solid"/>
              <a:round/>
            </a:ln>
            <a:effectLst/>
          </c:spPr>
          <c:dPt>
            <c:idx val="0"/>
            <c:bubble3D val="0"/>
            <c:spPr>
              <a:solidFill>
                <a:srgbClr val="B8892B"/>
              </a:solidFill>
              <a:ln w="9525" cap="flat">
                <a:solidFill>
                  <a:srgbClr val="F3E9D2"/>
                </a:solidFill>
                <a:prstDash val="solid"/>
                <a:round/>
              </a:ln>
              <a:effectLst/>
            </c:spPr>
            <c:extLst>
              <c:ext xmlns:c16="http://schemas.microsoft.com/office/drawing/2014/chart" uri="{C3380CC4-5D6E-409C-BE32-E72D297353CC}">
                <c16:uniqueId val="{00000001-2862-4E29-8269-8B1E47035616}"/>
              </c:ext>
            </c:extLst>
          </c:dPt>
          <c:dPt>
            <c:idx val="1"/>
            <c:bubble3D val="0"/>
            <c:spPr>
              <a:solidFill>
                <a:srgbClr val="E8DCC0"/>
              </a:solidFill>
              <a:ln w="9525" cap="flat">
                <a:solidFill>
                  <a:srgbClr val="F3E9D2"/>
                </a:solidFill>
                <a:prstDash val="solid"/>
                <a:round/>
              </a:ln>
              <a:effectLst/>
            </c:spPr>
            <c:extLst>
              <c:ext xmlns:c16="http://schemas.microsoft.com/office/drawing/2014/chart" uri="{C3380CC4-5D6E-409C-BE32-E72D297353CC}">
                <c16:uniqueId val="{00000003-2862-4E29-8269-8B1E47035616}"/>
              </c:ext>
            </c:extLst>
          </c:dPt>
          <c:cat>
            <c:strRef>
              <c:f>Sheet1!$A$2:$A$3</c:f>
              <c:strCache>
                <c:ptCount val="2"/>
                <c:pt idx="0">
                  <c:v>Yes</c:v>
                </c:pt>
                <c:pt idx="1">
                  <c:v>Other</c:v>
                </c:pt>
              </c:strCache>
            </c:strRef>
          </c:cat>
          <c:val>
            <c:numRef>
              <c:f>Sheet1!$B$2:$B$3</c:f>
              <c:numCache>
                <c:formatCode>General</c:formatCode>
                <c:ptCount val="2"/>
                <c:pt idx="0">
                  <c:v>27</c:v>
                </c:pt>
                <c:pt idx="1">
                  <c:v>73</c:v>
                </c:pt>
              </c:numCache>
            </c:numRef>
          </c:val>
          <c:extLst>
            <c:ext xmlns:c16="http://schemas.microsoft.com/office/drawing/2014/chart" uri="{C3380CC4-5D6E-409C-BE32-E72D297353CC}">
              <c16:uniqueId val="{00000004-2862-4E29-8269-8B1E47035616}"/>
            </c:ext>
          </c:extLst>
        </c:ser>
        <c:dLbls>
          <c:showLegendKey val="0"/>
          <c:showVal val="0"/>
          <c:showCatName val="0"/>
          <c:showSerName val="0"/>
          <c:showPercent val="0"/>
          <c:showBubbleSize val="0"/>
          <c:showLeaderLines val="0"/>
        </c:dLbls>
        <c:firstSliceAng val="0"/>
        <c:holeSize val="7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of revenue from subscribers</c:v>
                </c:pt>
              </c:strCache>
            </c:strRef>
          </c:tx>
          <c:spPr>
            <a:solidFill>
              <a:schemeClr val="accent1"/>
            </a:solidFill>
            <a:ln w="9525" cap="flat">
              <a:solidFill>
                <a:srgbClr val="F9F9F9"/>
              </a:solidFill>
              <a:prstDash val="solid"/>
              <a:round/>
            </a:ln>
            <a:effectLst/>
          </c:spPr>
          <c:dPt>
            <c:idx val="0"/>
            <c:bubble3D val="0"/>
            <c:spPr>
              <a:solidFill>
                <a:srgbClr val="B8892B"/>
              </a:solidFill>
              <a:ln w="9525" cap="flat">
                <a:solidFill>
                  <a:srgbClr val="F3E9D2"/>
                </a:solidFill>
                <a:prstDash val="solid"/>
                <a:round/>
              </a:ln>
              <a:effectLst/>
            </c:spPr>
            <c:extLst>
              <c:ext xmlns:c16="http://schemas.microsoft.com/office/drawing/2014/chart" uri="{C3380CC4-5D6E-409C-BE32-E72D297353CC}">
                <c16:uniqueId val="{00000001-A5A8-4D79-8D3A-A770DB75EB41}"/>
              </c:ext>
            </c:extLst>
          </c:dPt>
          <c:dPt>
            <c:idx val="1"/>
            <c:bubble3D val="0"/>
            <c:spPr>
              <a:solidFill>
                <a:srgbClr val="E8DCC0"/>
              </a:solidFill>
              <a:ln w="9525" cap="flat">
                <a:solidFill>
                  <a:srgbClr val="F3E9D2"/>
                </a:solidFill>
                <a:prstDash val="solid"/>
                <a:round/>
              </a:ln>
              <a:effectLst/>
            </c:spPr>
            <c:extLst>
              <c:ext xmlns:c16="http://schemas.microsoft.com/office/drawing/2014/chart" uri="{C3380CC4-5D6E-409C-BE32-E72D297353CC}">
                <c16:uniqueId val="{00000003-A5A8-4D79-8D3A-A770DB75EB41}"/>
              </c:ext>
            </c:extLst>
          </c:dPt>
          <c:cat>
            <c:strRef>
              <c:f>Sheet1!$A$2:$A$3</c:f>
              <c:strCache>
                <c:ptCount val="2"/>
                <c:pt idx="0">
                  <c:v>Yes</c:v>
                </c:pt>
                <c:pt idx="1">
                  <c:v>Other</c:v>
                </c:pt>
              </c:strCache>
            </c:strRef>
          </c:cat>
          <c:val>
            <c:numRef>
              <c:f>Sheet1!$B$2:$B$3</c:f>
              <c:numCache>
                <c:formatCode>General</c:formatCode>
                <c:ptCount val="2"/>
                <c:pt idx="0">
                  <c:v>26.9</c:v>
                </c:pt>
                <c:pt idx="1">
                  <c:v>73.099999999999994</c:v>
                </c:pt>
              </c:numCache>
            </c:numRef>
          </c:val>
          <c:extLst>
            <c:ext xmlns:c16="http://schemas.microsoft.com/office/drawing/2014/chart" uri="{C3380CC4-5D6E-409C-BE32-E72D297353CC}">
              <c16:uniqueId val="{00000004-A5A8-4D79-8D3A-A770DB75EB41}"/>
            </c:ext>
          </c:extLst>
        </c:ser>
        <c:dLbls>
          <c:showLegendKey val="0"/>
          <c:showVal val="0"/>
          <c:showCatName val="0"/>
          <c:showSerName val="0"/>
          <c:showPercent val="0"/>
          <c:showBubbleSize val="0"/>
          <c:showLeaderLines val="0"/>
        </c:dLbls>
        <c:firstSliceAng val="0"/>
        <c:holeSize val="7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of repeat buyers subscribe</c:v>
                </c:pt>
              </c:strCache>
            </c:strRef>
          </c:tx>
          <c:spPr>
            <a:solidFill>
              <a:schemeClr val="accent1"/>
            </a:solidFill>
            <a:ln w="9525" cap="flat">
              <a:solidFill>
                <a:srgbClr val="F9F9F9"/>
              </a:solidFill>
              <a:prstDash val="solid"/>
              <a:round/>
            </a:ln>
            <a:effectLst/>
          </c:spPr>
          <c:dPt>
            <c:idx val="0"/>
            <c:bubble3D val="0"/>
            <c:spPr>
              <a:solidFill>
                <a:srgbClr val="B8892B"/>
              </a:solidFill>
              <a:ln w="9525" cap="flat">
                <a:solidFill>
                  <a:srgbClr val="F3E9D2"/>
                </a:solidFill>
                <a:prstDash val="solid"/>
                <a:round/>
              </a:ln>
              <a:effectLst/>
            </c:spPr>
            <c:extLst>
              <c:ext xmlns:c16="http://schemas.microsoft.com/office/drawing/2014/chart" uri="{C3380CC4-5D6E-409C-BE32-E72D297353CC}">
                <c16:uniqueId val="{00000001-8ACA-483E-B11E-7FFBFD293FB9}"/>
              </c:ext>
            </c:extLst>
          </c:dPt>
          <c:dPt>
            <c:idx val="1"/>
            <c:bubble3D val="0"/>
            <c:spPr>
              <a:solidFill>
                <a:srgbClr val="E8DCC0"/>
              </a:solidFill>
              <a:ln w="9525" cap="flat">
                <a:solidFill>
                  <a:srgbClr val="F3E9D2"/>
                </a:solidFill>
                <a:prstDash val="solid"/>
                <a:round/>
              </a:ln>
              <a:effectLst/>
            </c:spPr>
            <c:extLst>
              <c:ext xmlns:c16="http://schemas.microsoft.com/office/drawing/2014/chart" uri="{C3380CC4-5D6E-409C-BE32-E72D297353CC}">
                <c16:uniqueId val="{00000003-8ACA-483E-B11E-7FFBFD293FB9}"/>
              </c:ext>
            </c:extLst>
          </c:dPt>
          <c:cat>
            <c:strRef>
              <c:f>Sheet1!$A$2:$A$3</c:f>
              <c:strCache>
                <c:ptCount val="2"/>
                <c:pt idx="0">
                  <c:v>Yes</c:v>
                </c:pt>
                <c:pt idx="1">
                  <c:v>Other</c:v>
                </c:pt>
              </c:strCache>
            </c:strRef>
          </c:cat>
          <c:val>
            <c:numRef>
              <c:f>Sheet1!$B$2:$B$3</c:f>
              <c:numCache>
                <c:formatCode>General</c:formatCode>
                <c:ptCount val="2"/>
                <c:pt idx="0">
                  <c:v>27.6</c:v>
                </c:pt>
                <c:pt idx="1">
                  <c:v>72.400000000000006</c:v>
                </c:pt>
              </c:numCache>
            </c:numRef>
          </c:val>
          <c:extLst>
            <c:ext xmlns:c16="http://schemas.microsoft.com/office/drawing/2014/chart" uri="{C3380CC4-5D6E-409C-BE32-E72D297353CC}">
              <c16:uniqueId val="{00000004-8ACA-483E-B11E-7FFBFD293FB9}"/>
            </c:ext>
          </c:extLst>
        </c:ser>
        <c:dLbls>
          <c:showLegendKey val="0"/>
          <c:showVal val="0"/>
          <c:showCatName val="0"/>
          <c:showSerName val="0"/>
          <c:showPercent val="0"/>
          <c:showBubbleSize val="0"/>
          <c:showLeaderLines val="0"/>
        </c:dLbls>
        <c:firstSliceAng val="0"/>
        <c:holeSize val="7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3B2F1E"/>
                </a:solidFill>
                <a:latin typeface="+mn-lt"/>
              </a:defRPr>
            </a:pPr>
            <a:r>
              <a:rPr lang="en-US" sz="1600" b="0" i="0" u="none" strike="noStrike">
                <a:solidFill>
                  <a:srgbClr val="3B2F1E"/>
                </a:solidFill>
                <a:latin typeface="+mn-lt"/>
              </a:rPr>
              <a:t>Total revenue by category (USD)</a:t>
            </a:r>
          </a:p>
        </c:rich>
      </c:tx>
      <c:overlay val="0"/>
    </c:title>
    <c:autoTitleDeleted val="0"/>
    <c:plotArea>
      <c:layout/>
      <c:barChart>
        <c:barDir val="col"/>
        <c:grouping val="clustered"/>
        <c:varyColors val="0"/>
        <c:ser>
          <c:idx val="0"/>
          <c:order val="0"/>
          <c:tx>
            <c:strRef>
              <c:f>Sheet1!$B$1</c:f>
              <c:strCache>
                <c:ptCount val="1"/>
                <c:pt idx="0">
                  <c:v>Revenue</c:v>
                </c:pt>
              </c:strCache>
            </c:strRef>
          </c:tx>
          <c:spPr>
            <a:solidFill>
              <a:srgbClr val="B8892B"/>
            </a:solidFill>
            <a:effectLst/>
          </c:spPr>
          <c:invertIfNegative val="0"/>
          <c:dLbls>
            <c:numFmt formatCode="\$#,##0" sourceLinked="0"/>
            <c:spPr>
              <a:noFill/>
              <a:ln>
                <a:noFill/>
              </a:ln>
              <a:effectLst/>
            </c:spPr>
            <c:txPr>
              <a:bodyPr/>
              <a:lstStyle/>
              <a:p>
                <a:pPr>
                  <a:defRPr sz="1400" b="0" i="0" u="none" strike="noStrike">
                    <a:solidFill>
                      <a:srgbClr val="3B2F1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Clothing</c:v>
                </c:pt>
                <c:pt idx="1">
                  <c:v>Accessories</c:v>
                </c:pt>
                <c:pt idx="2">
                  <c:v>Footwear</c:v>
                </c:pt>
                <c:pt idx="3">
                  <c:v>Outerwear</c:v>
                </c:pt>
              </c:strCache>
            </c:strRef>
          </c:cat>
          <c:val>
            <c:numRef>
              <c:f>Sheet1!$B$2:$B$5</c:f>
              <c:numCache>
                <c:formatCode>General</c:formatCode>
                <c:ptCount val="4"/>
                <c:pt idx="0">
                  <c:v>104264</c:v>
                </c:pt>
                <c:pt idx="1">
                  <c:v>74200</c:v>
                </c:pt>
                <c:pt idx="2">
                  <c:v>36093</c:v>
                </c:pt>
                <c:pt idx="3">
                  <c:v>18524</c:v>
                </c:pt>
              </c:numCache>
            </c:numRef>
          </c:val>
          <c:extLst>
            <c:ext xmlns:c16="http://schemas.microsoft.com/office/drawing/2014/chart" uri="{C3380CC4-5D6E-409C-BE32-E72D297353CC}">
              <c16:uniqueId val="{00000000-4DDE-4665-BB3D-8732F3EB0B70}"/>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3B2F1E"/>
                </a:solidFill>
                <a:latin typeface="+mn-lt"/>
              </a:defRPr>
            </a:pPr>
            <a:endParaRPr lang="en-US"/>
          </a:p>
        </c:txPr>
        <c:crossAx val="2094734552"/>
        <c:crosses val="autoZero"/>
        <c:auto val="1"/>
        <c:lblAlgn val="ctr"/>
        <c:lblOffset val="100"/>
        <c:noMultiLvlLbl val="1"/>
      </c:catAx>
      <c:valAx>
        <c:axId val="2094734552"/>
        <c:scaling>
          <c:orientation val="minMax"/>
          <c:max val="1250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3B2F1E"/>
                </a:solidFill>
                <a:latin typeface="+mn-lt"/>
              </a:defRPr>
            </a:pPr>
            <a:r>
              <a:rPr lang="en-US" sz="1600" b="0" i="0" u="none" strike="noStrike">
                <a:solidFill>
                  <a:srgbClr val="3B2F1E"/>
                </a:solidFill>
                <a:latin typeface="+mn-lt"/>
              </a:rPr>
              <a:t>Total revenue by season (USD)</a:t>
            </a:r>
          </a:p>
        </c:rich>
      </c:tx>
      <c:overlay val="0"/>
    </c:title>
    <c:autoTitleDeleted val="0"/>
    <c:plotArea>
      <c:layout/>
      <c:barChart>
        <c:barDir val="col"/>
        <c:grouping val="clustered"/>
        <c:varyColors val="0"/>
        <c:ser>
          <c:idx val="0"/>
          <c:order val="0"/>
          <c:tx>
            <c:strRef>
              <c:f>Sheet1!$B$1</c:f>
              <c:strCache>
                <c:ptCount val="1"/>
                <c:pt idx="0">
                  <c:v>Revenue</c:v>
                </c:pt>
              </c:strCache>
            </c:strRef>
          </c:tx>
          <c:spPr>
            <a:solidFill>
              <a:srgbClr val="B8892B"/>
            </a:solidFill>
            <a:effectLst/>
          </c:spPr>
          <c:invertIfNegative val="0"/>
          <c:dLbls>
            <c:numFmt formatCode="\$#,##0" sourceLinked="0"/>
            <c:spPr>
              <a:noFill/>
              <a:ln>
                <a:noFill/>
              </a:ln>
              <a:effectLst/>
            </c:spPr>
            <c:txPr>
              <a:bodyPr/>
              <a:lstStyle/>
              <a:p>
                <a:pPr>
                  <a:defRPr sz="1400" b="0" i="0" u="none" strike="noStrike">
                    <a:solidFill>
                      <a:srgbClr val="3B2F1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Fall</c:v>
                </c:pt>
                <c:pt idx="1">
                  <c:v>Spring</c:v>
                </c:pt>
                <c:pt idx="2">
                  <c:v>Winter</c:v>
                </c:pt>
                <c:pt idx="3">
                  <c:v>Summer</c:v>
                </c:pt>
              </c:strCache>
            </c:strRef>
          </c:cat>
          <c:val>
            <c:numRef>
              <c:f>Sheet1!$B$2:$B$5</c:f>
              <c:numCache>
                <c:formatCode>General</c:formatCode>
                <c:ptCount val="4"/>
                <c:pt idx="0">
                  <c:v>60018</c:v>
                </c:pt>
                <c:pt idx="1">
                  <c:v>58679</c:v>
                </c:pt>
                <c:pt idx="2">
                  <c:v>58607</c:v>
                </c:pt>
                <c:pt idx="3">
                  <c:v>55777</c:v>
                </c:pt>
              </c:numCache>
            </c:numRef>
          </c:val>
          <c:extLst>
            <c:ext xmlns:c16="http://schemas.microsoft.com/office/drawing/2014/chart" uri="{C3380CC4-5D6E-409C-BE32-E72D297353CC}">
              <c16:uniqueId val="{00000000-91E3-4BB2-AC31-61E8C29FC0E8}"/>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3B2F1E"/>
                </a:solidFill>
                <a:latin typeface="+mn-lt"/>
              </a:defRPr>
            </a:pPr>
            <a:endParaRPr lang="en-US"/>
          </a:p>
        </c:txPr>
        <c:crossAx val="2094734552"/>
        <c:crosses val="autoZero"/>
        <c:auto val="1"/>
        <c:lblAlgn val="ctr"/>
        <c:lblOffset val="100"/>
        <c:noMultiLvlLbl val="1"/>
      </c:catAx>
      <c:valAx>
        <c:axId val="2094734552"/>
        <c:scaling>
          <c:orientation val="minMax"/>
          <c:max val="700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1280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project analyzes shopping data from 3,900 customers to understand who spends, what drives purchases and how to improve engagement. The workflow was Python for cleaning, MySQL for analysis and Power BI for the dashboard.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has 3,900 rows, one per unique customer ID, and 18 columns covering demographics (age, gender, location, subscription), product details (item, category, size, color, season) and behavior (discounts, shipping, payment, previous purchases, frequency, rating). Only Review Rating has missing values: 37. Average purchase is $59.76, with amounts between $20 and $100.</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Load with pandas, explore with info and describe, impute the 37 missing review ratings using the median rating of each product category, engineer age_group (four quartile bins: 18-31, 32-44, 45-57, 58-70) and purchase_frequency_days, and load the result into the customer table in MySQL. We also verified that promo_code_used duplicates discount_applied in every row and dropped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Male customers generate $157,890 (67.7%) and female customers $75,191 (32.3%). But males are 2,652 of 3,900 customers (68.0%) and females 1,248 (32.0%). Average spend per customer is nearly identical, Female $60.25 vs Male $59.54, so revenue differs because of customer count. The opportunity is acquisition of more female customers.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839 customers used a discount and still spent at or above the average of $59.76. That is 50.0% of the 1,677 purchases that used a discount. Overall 43.0% of all purchases carry a discount. Note the query uses 'at or above' the average. These customers are a natural audience for exclusive offers.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Highest average review ratings: Gloves 3.86, Sandals 3.84, Boots 3.82, Hat 3.80, Skirt 3.78. The five are within 0.08 points, so ratings are close across products. Use them in campaigns but do not over-interpret small differences.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Express averages $60.48 per purchase vs $58.46 for Standard, a $2.02 or 3.5% difference. Across all six shipping types averages range from $58.46 (Standard) to $60.73 (2-Day Shipping). Shipping type is a minor driver of spend.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27.0% of customers subscribe (1,053) and they bring 26.9% of revenue ($62,645 of $233,081). Among repeat buyers with more than 5 previous purchases, 958 of 3,476 subscribe, 27.6%, barely above the 27.0% overall rate. Subscribers average $59.49 vs $59.87 for non-subscribers and both groups rate products 3.75. Subscription benefits should be redesigned to raise spend and loyalty.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are defined by previous purchases: New = 1, Returning = 2 to 10, Loyal = more than 10. 3,116 customers (79.9%) are Loyal, 701 (18.0%) Returning and only 83 (2.1%) New. With these thresholds most customers are already Loyal, so growth must come from acquiring new customers and moving Returning customers up. Percentile-based thresholds could help separate a true top tier.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category: Clothing $104,264 (44.7%), Accessories $74,200 (31.8%), Footwear $36,093 (15.5%), Outerwear $18,524 (7.9%). By season: Fall $60,018, Spring $58,679, Winter $58,607, Summer $55,777. Fall also has the highest average purchase at $61.56 and Summer the lowest at $58.41.</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Subscribers spend about the same as non-subscribers, so redesign benefits (for example free shipping above a spend threshold) and A/B test. 2) Only 18.0% of customers are Returning; rewarding them is the clearest path to more Loyal customers. 3) Discounted purchases average $59.28 vs $60.13 without a discount, so test reducing discounts on the most discount-dependent products. 4) Feature Gloves, Sandals and Boots (top rated) and Jewelry, Pants, Blouse (best sellers); Outerwear has the lowest average ticket. 5) Fall leads on revenue and average purchase. 6) Young Adults (18-31) contribute 26.7% of revenue and women are only 32% of customers with a slightly higher average spend. Differences between groups are small, so validate with tests before large investments.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D8F37-BA47-4E6A-E46E-EDE74D8C41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3BF3D20-F266-D2AE-737A-3813530422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D2CC7F0-37ED-AE7E-0152-B8AB95DB9A8D}"/>
              </a:ext>
            </a:extLst>
          </p:cNvPr>
          <p:cNvSpPr>
            <a:spLocks noGrp="1"/>
          </p:cNvSpPr>
          <p:nvPr>
            <p:ph type="dt" sz="half" idx="10"/>
          </p:nvPr>
        </p:nvSpPr>
        <p:spPr/>
        <p:txBody>
          <a:bodyPr/>
          <a:lstStyle/>
          <a:p>
            <a:fld id="{5F720C9B-9B17-4A73-B563-AF323379498F}" type="datetimeFigureOut">
              <a:rPr lang="en-IN" smtClean="0"/>
              <a:t>19-10-2026</a:t>
            </a:fld>
            <a:endParaRPr lang="en-IN"/>
          </a:p>
        </p:txBody>
      </p:sp>
      <p:sp>
        <p:nvSpPr>
          <p:cNvPr id="5" name="Footer Placeholder 4">
            <a:extLst>
              <a:ext uri="{FF2B5EF4-FFF2-40B4-BE49-F238E27FC236}">
                <a16:creationId xmlns:a16="http://schemas.microsoft.com/office/drawing/2014/main" id="{249732F5-FC10-68BC-04C2-7D2B439B41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0687BC-BE77-47BE-2C44-154E5FE4745B}"/>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59305450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F0588-931F-CCCC-B6F1-5B853606F05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7E48B25-2876-253F-CA5C-935F5065EE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3033D9-9A7C-404B-DE42-A06ED319239A}"/>
              </a:ext>
            </a:extLst>
          </p:cNvPr>
          <p:cNvSpPr>
            <a:spLocks noGrp="1"/>
          </p:cNvSpPr>
          <p:nvPr>
            <p:ph type="dt" sz="half" idx="10"/>
          </p:nvPr>
        </p:nvSpPr>
        <p:spPr/>
        <p:txBody>
          <a:bodyPr/>
          <a:lstStyle/>
          <a:p>
            <a:fld id="{5F720C9B-9B17-4A73-B563-AF323379498F}" type="datetimeFigureOut">
              <a:rPr lang="en-IN" smtClean="0"/>
              <a:t>19-10-2026</a:t>
            </a:fld>
            <a:endParaRPr lang="en-IN"/>
          </a:p>
        </p:txBody>
      </p:sp>
      <p:sp>
        <p:nvSpPr>
          <p:cNvPr id="5" name="Footer Placeholder 4">
            <a:extLst>
              <a:ext uri="{FF2B5EF4-FFF2-40B4-BE49-F238E27FC236}">
                <a16:creationId xmlns:a16="http://schemas.microsoft.com/office/drawing/2014/main" id="{C3012751-4532-1C5B-8F05-80A7A37CCF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33C760-6130-A0BE-2C33-A83E56F38DBC}"/>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141674030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1DE0A-DF98-9DEF-CE02-5E7BC9BE92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FB51074-DD51-42CC-EFBB-13D25C50BB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6C78D00-5298-B3E5-9288-684B1DE8933E}"/>
              </a:ext>
            </a:extLst>
          </p:cNvPr>
          <p:cNvSpPr>
            <a:spLocks noGrp="1"/>
          </p:cNvSpPr>
          <p:nvPr>
            <p:ph type="dt" sz="half" idx="10"/>
          </p:nvPr>
        </p:nvSpPr>
        <p:spPr/>
        <p:txBody>
          <a:bodyPr/>
          <a:lstStyle/>
          <a:p>
            <a:fld id="{5F720C9B-9B17-4A73-B563-AF323379498F}" type="datetimeFigureOut">
              <a:rPr lang="en-IN" smtClean="0"/>
              <a:t>19-10-2026</a:t>
            </a:fld>
            <a:endParaRPr lang="en-IN"/>
          </a:p>
        </p:txBody>
      </p:sp>
      <p:sp>
        <p:nvSpPr>
          <p:cNvPr id="5" name="Footer Placeholder 4">
            <a:extLst>
              <a:ext uri="{FF2B5EF4-FFF2-40B4-BE49-F238E27FC236}">
                <a16:creationId xmlns:a16="http://schemas.microsoft.com/office/drawing/2014/main" id="{6C16ACBD-C028-5409-C08E-966071DA90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2213E8-B3FF-75D5-1407-AB78D56AD09C}"/>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77121847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F3157-7E38-EB37-EEB8-2A859C6CAC0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FEE3B25-0B3F-2747-1DAB-EB328CB406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6B6FE17-7AD4-2517-67BF-9763B37864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F555677-2778-DCCB-E7E9-E5A5E97B722E}"/>
              </a:ext>
            </a:extLst>
          </p:cNvPr>
          <p:cNvSpPr>
            <a:spLocks noGrp="1"/>
          </p:cNvSpPr>
          <p:nvPr>
            <p:ph type="dt" sz="half" idx="10"/>
          </p:nvPr>
        </p:nvSpPr>
        <p:spPr/>
        <p:txBody>
          <a:bodyPr/>
          <a:lstStyle/>
          <a:p>
            <a:fld id="{5F720C9B-9B17-4A73-B563-AF323379498F}" type="datetimeFigureOut">
              <a:rPr lang="en-IN" smtClean="0"/>
              <a:t>19-10-2026</a:t>
            </a:fld>
            <a:endParaRPr lang="en-IN"/>
          </a:p>
        </p:txBody>
      </p:sp>
      <p:sp>
        <p:nvSpPr>
          <p:cNvPr id="6" name="Footer Placeholder 5">
            <a:extLst>
              <a:ext uri="{FF2B5EF4-FFF2-40B4-BE49-F238E27FC236}">
                <a16:creationId xmlns:a16="http://schemas.microsoft.com/office/drawing/2014/main" id="{E07CF9F5-89BC-716B-8249-2D1F36AA29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BC3108-D054-C272-1186-32D2A9A751D2}"/>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93239800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78D23-0842-D12D-1F6B-8A2B6C93196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E18ABEB-CD92-56E7-08DC-8C41BFDF2C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9EC65D-270C-2D3A-7CD6-16AFEB62F2D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2327165-7914-63C1-5C4E-724B8B81C7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D01A03-4174-F096-F7AE-AFC41C13F6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5BA8510-0E12-5124-05DE-9B5382EFA466}"/>
              </a:ext>
            </a:extLst>
          </p:cNvPr>
          <p:cNvSpPr>
            <a:spLocks noGrp="1"/>
          </p:cNvSpPr>
          <p:nvPr>
            <p:ph type="dt" sz="half" idx="10"/>
          </p:nvPr>
        </p:nvSpPr>
        <p:spPr/>
        <p:txBody>
          <a:bodyPr/>
          <a:lstStyle/>
          <a:p>
            <a:fld id="{5F720C9B-9B17-4A73-B563-AF323379498F}" type="datetimeFigureOut">
              <a:rPr lang="en-IN" smtClean="0"/>
              <a:t>19-10-2026</a:t>
            </a:fld>
            <a:endParaRPr lang="en-IN"/>
          </a:p>
        </p:txBody>
      </p:sp>
      <p:sp>
        <p:nvSpPr>
          <p:cNvPr id="8" name="Footer Placeholder 7">
            <a:extLst>
              <a:ext uri="{FF2B5EF4-FFF2-40B4-BE49-F238E27FC236}">
                <a16:creationId xmlns:a16="http://schemas.microsoft.com/office/drawing/2014/main" id="{FCE0C0D9-DC4D-2D8E-0655-668666B9600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2DB0B02-C3A7-AE2E-7462-6C20DE7F5FBF}"/>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30244967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F94E9-3269-C3C4-3BF4-C40B5B40EFF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5D803FA-75A6-0BEA-EF72-D474AF39C734}"/>
              </a:ext>
            </a:extLst>
          </p:cNvPr>
          <p:cNvSpPr>
            <a:spLocks noGrp="1"/>
          </p:cNvSpPr>
          <p:nvPr>
            <p:ph type="dt" sz="half" idx="10"/>
          </p:nvPr>
        </p:nvSpPr>
        <p:spPr/>
        <p:txBody>
          <a:bodyPr/>
          <a:lstStyle/>
          <a:p>
            <a:fld id="{5F720C9B-9B17-4A73-B563-AF323379498F}" type="datetimeFigureOut">
              <a:rPr lang="en-IN" smtClean="0"/>
              <a:t>19-10-2026</a:t>
            </a:fld>
            <a:endParaRPr lang="en-IN"/>
          </a:p>
        </p:txBody>
      </p:sp>
      <p:sp>
        <p:nvSpPr>
          <p:cNvPr id="4" name="Footer Placeholder 3">
            <a:extLst>
              <a:ext uri="{FF2B5EF4-FFF2-40B4-BE49-F238E27FC236}">
                <a16:creationId xmlns:a16="http://schemas.microsoft.com/office/drawing/2014/main" id="{F3025C53-6971-0E55-8A17-8B877C8C263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85D25E2-7278-F9C6-80D7-99C6D3753881}"/>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100866442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2A9D63-20DD-2708-FE12-5547537882A7}"/>
              </a:ext>
            </a:extLst>
          </p:cNvPr>
          <p:cNvSpPr>
            <a:spLocks noGrp="1"/>
          </p:cNvSpPr>
          <p:nvPr>
            <p:ph type="dt" sz="half" idx="10"/>
          </p:nvPr>
        </p:nvSpPr>
        <p:spPr/>
        <p:txBody>
          <a:bodyPr/>
          <a:lstStyle/>
          <a:p>
            <a:fld id="{5F720C9B-9B17-4A73-B563-AF323379498F}" type="datetimeFigureOut">
              <a:rPr lang="en-IN" smtClean="0"/>
              <a:t>19-10-2026</a:t>
            </a:fld>
            <a:endParaRPr lang="en-IN"/>
          </a:p>
        </p:txBody>
      </p:sp>
      <p:sp>
        <p:nvSpPr>
          <p:cNvPr id="3" name="Footer Placeholder 2">
            <a:extLst>
              <a:ext uri="{FF2B5EF4-FFF2-40B4-BE49-F238E27FC236}">
                <a16:creationId xmlns:a16="http://schemas.microsoft.com/office/drawing/2014/main" id="{056C7744-09E7-190E-3804-76B76791AAE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C35CDC0-73A4-C75A-50FC-9185484C5756}"/>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176850176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24A50-B2D0-3BEC-E4E7-B4035B9352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76C792E-C8F3-54FB-3AAC-FFADBCBC20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F05BC74-2BF2-0897-E900-D697363A89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A47DED-56A5-0EB8-70FF-F07C3652B0C8}"/>
              </a:ext>
            </a:extLst>
          </p:cNvPr>
          <p:cNvSpPr>
            <a:spLocks noGrp="1"/>
          </p:cNvSpPr>
          <p:nvPr>
            <p:ph type="dt" sz="half" idx="10"/>
          </p:nvPr>
        </p:nvSpPr>
        <p:spPr/>
        <p:txBody>
          <a:bodyPr/>
          <a:lstStyle/>
          <a:p>
            <a:fld id="{5F720C9B-9B17-4A73-B563-AF323379498F}" type="datetimeFigureOut">
              <a:rPr lang="en-IN" smtClean="0"/>
              <a:t>19-10-2026</a:t>
            </a:fld>
            <a:endParaRPr lang="en-IN"/>
          </a:p>
        </p:txBody>
      </p:sp>
      <p:sp>
        <p:nvSpPr>
          <p:cNvPr id="6" name="Footer Placeholder 5">
            <a:extLst>
              <a:ext uri="{FF2B5EF4-FFF2-40B4-BE49-F238E27FC236}">
                <a16:creationId xmlns:a16="http://schemas.microsoft.com/office/drawing/2014/main" id="{1467503C-F593-AF37-EFA7-41D8E51C47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81F6979-6FAE-F9AE-A5FA-17DCB5581979}"/>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188994841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12F8B-6F47-2139-2783-23D8639205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79CDF77-DA29-6C27-6260-3D2B930ED20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46FE76F-6B15-F75D-6A7C-E01FBD3A85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7EFC82-C439-71D7-B492-7EDF29E3FBD5}"/>
              </a:ext>
            </a:extLst>
          </p:cNvPr>
          <p:cNvSpPr>
            <a:spLocks noGrp="1"/>
          </p:cNvSpPr>
          <p:nvPr>
            <p:ph type="dt" sz="half" idx="10"/>
          </p:nvPr>
        </p:nvSpPr>
        <p:spPr/>
        <p:txBody>
          <a:bodyPr/>
          <a:lstStyle/>
          <a:p>
            <a:fld id="{5F720C9B-9B17-4A73-B563-AF323379498F}" type="datetimeFigureOut">
              <a:rPr lang="en-IN" smtClean="0"/>
              <a:t>19-10-2026</a:t>
            </a:fld>
            <a:endParaRPr lang="en-IN"/>
          </a:p>
        </p:txBody>
      </p:sp>
      <p:sp>
        <p:nvSpPr>
          <p:cNvPr id="6" name="Footer Placeholder 5">
            <a:extLst>
              <a:ext uri="{FF2B5EF4-FFF2-40B4-BE49-F238E27FC236}">
                <a16:creationId xmlns:a16="http://schemas.microsoft.com/office/drawing/2014/main" id="{719AB541-14C9-2D61-82A1-1DAEF164AA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7A5ACA-E384-6E39-1EF8-4BEF7768F62E}"/>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111023760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F75FC-A278-DF39-7161-F2FA7E80189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AC9D0D0-9186-50B1-32F1-1502775446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DA6132-9E30-4C98-9CF4-EB642CA9E49F}"/>
              </a:ext>
            </a:extLst>
          </p:cNvPr>
          <p:cNvSpPr>
            <a:spLocks noGrp="1"/>
          </p:cNvSpPr>
          <p:nvPr>
            <p:ph type="dt" sz="half" idx="10"/>
          </p:nvPr>
        </p:nvSpPr>
        <p:spPr/>
        <p:txBody>
          <a:bodyPr/>
          <a:lstStyle/>
          <a:p>
            <a:fld id="{5F720C9B-9B17-4A73-B563-AF323379498F}" type="datetimeFigureOut">
              <a:rPr lang="en-IN" smtClean="0"/>
              <a:t>19-10-2026</a:t>
            </a:fld>
            <a:endParaRPr lang="en-IN"/>
          </a:p>
        </p:txBody>
      </p:sp>
      <p:sp>
        <p:nvSpPr>
          <p:cNvPr id="5" name="Footer Placeholder 4">
            <a:extLst>
              <a:ext uri="{FF2B5EF4-FFF2-40B4-BE49-F238E27FC236}">
                <a16:creationId xmlns:a16="http://schemas.microsoft.com/office/drawing/2014/main" id="{8EADAF09-098B-13DE-26C4-1F147E63D4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1C191B-7264-7447-C6C8-CC4EC2E9FC0E}"/>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01193254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226C0B-8818-F75B-7B50-05D723D4237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7876469-0E6F-4E2E-17DD-7F9C4AB437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EEAD79-DB1E-3ED2-0C8B-1B0B0838D1A9}"/>
              </a:ext>
            </a:extLst>
          </p:cNvPr>
          <p:cNvSpPr>
            <a:spLocks noGrp="1"/>
          </p:cNvSpPr>
          <p:nvPr>
            <p:ph type="dt" sz="half" idx="10"/>
          </p:nvPr>
        </p:nvSpPr>
        <p:spPr/>
        <p:txBody>
          <a:bodyPr/>
          <a:lstStyle/>
          <a:p>
            <a:fld id="{5F720C9B-9B17-4A73-B563-AF323379498F}" type="datetimeFigureOut">
              <a:rPr lang="en-IN" smtClean="0"/>
              <a:t>19-10-2026</a:t>
            </a:fld>
            <a:endParaRPr lang="en-IN"/>
          </a:p>
        </p:txBody>
      </p:sp>
      <p:sp>
        <p:nvSpPr>
          <p:cNvPr id="5" name="Footer Placeholder 4">
            <a:extLst>
              <a:ext uri="{FF2B5EF4-FFF2-40B4-BE49-F238E27FC236}">
                <a16:creationId xmlns:a16="http://schemas.microsoft.com/office/drawing/2014/main" id="{87B1925F-5004-CDE7-98D3-21A314E6E8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225EE5-377A-2800-E182-237118D31399}"/>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16149629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_DARK">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89120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22579299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C10C2D-FC2D-03B3-E5A5-C59AC1F6D0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5EFDD18-5EB7-49F9-E2B1-1AE8E61DB7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CE7D17-49EF-839C-62F9-0BBE9EB86C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720C9B-9B17-4A73-B563-AF323379498F}" type="datetimeFigureOut">
              <a:rPr lang="en-IN" smtClean="0"/>
              <a:t>19-10-2026</a:t>
            </a:fld>
            <a:endParaRPr lang="en-IN"/>
          </a:p>
        </p:txBody>
      </p:sp>
      <p:sp>
        <p:nvSpPr>
          <p:cNvPr id="5" name="Footer Placeholder 4">
            <a:extLst>
              <a:ext uri="{FF2B5EF4-FFF2-40B4-BE49-F238E27FC236}">
                <a16:creationId xmlns:a16="http://schemas.microsoft.com/office/drawing/2014/main" id="{0C1D6E01-CF6C-F31D-6D08-5E12ED3C92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A69F563-A0E2-B6FE-F28A-6EFFC587A2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669206748"/>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chart" Target="../charts/chart5.xml"/><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chart" Target="../charts/chart7.xml"/></Relationships>
</file>

<file path=ppt/slides/_rels/slide1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Right panel"/>
          <p:cNvSpPr/>
          <p:nvPr/>
        </p:nvSpPr>
        <p:spPr>
          <a:xfrm>
            <a:off x="6949440" y="0"/>
            <a:ext cx="5239512" cy="6858000"/>
          </a:xfrm>
          <a:prstGeom prst="rect">
            <a:avLst/>
          </a:prstGeom>
          <a:solidFill>
            <a:schemeClr val="accent2"/>
          </a:solidFill>
          <a:ln/>
        </p:spPr>
        <p:txBody>
          <a:bodyPr/>
          <a:lstStyle/>
          <a:p>
            <a:endParaRPr lang="en-IN"/>
          </a:p>
        </p:txBody>
      </p:sp>
      <p:sp>
        <p:nvSpPr>
          <p:cNvPr id="3" name="Hero circle"/>
          <p:cNvSpPr/>
          <p:nvPr/>
        </p:nvSpPr>
        <p:spPr>
          <a:xfrm>
            <a:off x="8202168" y="1234440"/>
            <a:ext cx="2743200" cy="2743200"/>
          </a:xfrm>
          <a:prstGeom prst="ellipse">
            <a:avLst/>
          </a:prstGeom>
          <a:solidFill>
            <a:schemeClr val="tx2"/>
          </a:solidFill>
          <a:ln/>
        </p:spPr>
        <p:txBody>
          <a:bodyPr/>
          <a:lstStyle/>
          <a:p>
            <a:endParaRPr lang="en-IN"/>
          </a:p>
        </p:txBody>
      </p:sp>
      <p:pic>
        <p:nvPicPr>
          <p:cNvPr id="4" name="Image 0" descr="Shopping bag icon"/>
          <p:cNvPicPr>
            <a:picLocks noChangeAspect="1"/>
          </p:cNvPicPr>
          <p:nvPr/>
        </p:nvPicPr>
        <p:blipFill>
          <a:blip r:embed="rId3"/>
          <a:stretch>
            <a:fillRect/>
          </a:stretch>
        </p:blipFill>
        <p:spPr>
          <a:xfrm>
            <a:off x="8796528" y="1828800"/>
            <a:ext cx="1554480" cy="1554480"/>
          </a:xfrm>
          <a:prstGeom prst="rect">
            <a:avLst/>
          </a:prstGeom>
        </p:spPr>
      </p:pic>
      <p:sp>
        <p:nvSpPr>
          <p:cNvPr id="5" name="Chip 1"/>
          <p:cNvSpPr/>
          <p:nvPr/>
        </p:nvSpPr>
        <p:spPr>
          <a:xfrm>
            <a:off x="7315200" y="4572000"/>
            <a:ext cx="1463040" cy="1143000"/>
          </a:xfrm>
          <a:prstGeom prst="roundRect">
            <a:avLst>
              <a:gd name="adj" fmla="val 8000"/>
            </a:avLst>
          </a:prstGeom>
          <a:solidFill>
            <a:schemeClr val="tx2"/>
          </a:solidFill>
          <a:ln/>
        </p:spPr>
        <p:txBody>
          <a:bodyPr/>
          <a:lstStyle/>
          <a:p>
            <a:endParaRPr lang="en-IN"/>
          </a:p>
        </p:txBody>
      </p:sp>
      <p:sp>
        <p:nvSpPr>
          <p:cNvPr id="6" name="Text 3"/>
          <p:cNvSpPr txBox="1"/>
          <p:nvPr/>
        </p:nvSpPr>
        <p:spPr>
          <a:xfrm>
            <a:off x="7388352" y="4681728"/>
            <a:ext cx="1316736" cy="457200"/>
          </a:xfrm>
          <a:prstGeom prst="rect">
            <a:avLst/>
          </a:prstGeom>
          <a:noFill/>
          <a:ln/>
        </p:spPr>
        <p:txBody>
          <a:bodyPr wrap="square" lIns="0" tIns="0" rIns="0" bIns="0" rtlCol="0" anchor="ctr"/>
          <a:lstStyle/>
          <a:p>
            <a:pPr marL="0" indent="0" algn="ctr">
              <a:buNone/>
            </a:pPr>
            <a:r>
              <a:rPr lang="en-US" sz="2400" b="1" dirty="0">
                <a:solidFill>
                  <a:schemeClr val="accent3"/>
                </a:solidFill>
                <a:latin typeface="Cambria" pitchFamily="34" charset="0"/>
                <a:ea typeface="Cambria" pitchFamily="34" charset="-122"/>
                <a:cs typeface="Cambria" pitchFamily="34" charset="-120"/>
              </a:rPr>
              <a:t>3,900</a:t>
            </a:r>
            <a:endParaRPr lang="en-US" sz="2400" dirty="0"/>
          </a:p>
        </p:txBody>
      </p:sp>
      <p:sp>
        <p:nvSpPr>
          <p:cNvPr id="7" name="Text 4"/>
          <p:cNvSpPr txBox="1"/>
          <p:nvPr/>
        </p:nvSpPr>
        <p:spPr>
          <a:xfrm>
            <a:off x="7388352" y="5166360"/>
            <a:ext cx="1316736" cy="457200"/>
          </a:xfrm>
          <a:prstGeom prst="rect">
            <a:avLst/>
          </a:prstGeom>
          <a:noFill/>
          <a:ln/>
        </p:spPr>
        <p:txBody>
          <a:bodyPr wrap="square" lIns="0" tIns="0" rIns="0" bIns="0" rtlCol="0" anchor="t"/>
          <a:lstStyle/>
          <a:p>
            <a:pPr marL="0" indent="0" algn="ctr">
              <a:buNone/>
            </a:pPr>
            <a:r>
              <a:rPr lang="en-US" sz="1200" dirty="0">
                <a:solidFill>
                  <a:schemeClr val="bg1"/>
                </a:solidFill>
                <a:latin typeface="Calibri" pitchFamily="34" charset="0"/>
                <a:ea typeface="Calibri" pitchFamily="34" charset="-122"/>
                <a:cs typeface="Calibri" pitchFamily="34" charset="-120"/>
              </a:rPr>
              <a:t>customers</a:t>
            </a:r>
            <a:endParaRPr lang="en-US" sz="1200" dirty="0"/>
          </a:p>
        </p:txBody>
      </p:sp>
      <p:sp>
        <p:nvSpPr>
          <p:cNvPr id="8" name="Chip 2"/>
          <p:cNvSpPr/>
          <p:nvPr/>
        </p:nvSpPr>
        <p:spPr>
          <a:xfrm>
            <a:off x="8869680" y="4572000"/>
            <a:ext cx="1463040" cy="1143000"/>
          </a:xfrm>
          <a:prstGeom prst="roundRect">
            <a:avLst>
              <a:gd name="adj" fmla="val 8000"/>
            </a:avLst>
          </a:prstGeom>
          <a:solidFill>
            <a:schemeClr val="tx2"/>
          </a:solidFill>
          <a:ln/>
        </p:spPr>
        <p:txBody>
          <a:bodyPr/>
          <a:lstStyle/>
          <a:p>
            <a:endParaRPr lang="en-IN"/>
          </a:p>
        </p:txBody>
      </p:sp>
      <p:sp>
        <p:nvSpPr>
          <p:cNvPr id="9" name="Text 6"/>
          <p:cNvSpPr txBox="1"/>
          <p:nvPr/>
        </p:nvSpPr>
        <p:spPr>
          <a:xfrm>
            <a:off x="8942832" y="4681728"/>
            <a:ext cx="1316736" cy="457200"/>
          </a:xfrm>
          <a:prstGeom prst="rect">
            <a:avLst/>
          </a:prstGeom>
          <a:noFill/>
          <a:ln/>
        </p:spPr>
        <p:txBody>
          <a:bodyPr wrap="square" lIns="0" tIns="0" rIns="0" bIns="0" rtlCol="0" anchor="ctr"/>
          <a:lstStyle/>
          <a:p>
            <a:pPr marL="0" indent="0" algn="ctr">
              <a:buNone/>
            </a:pPr>
            <a:r>
              <a:rPr lang="en-US" sz="2000" b="1" dirty="0">
                <a:solidFill>
                  <a:schemeClr val="accent3"/>
                </a:solidFill>
                <a:latin typeface="Cambria" pitchFamily="34" charset="0"/>
                <a:ea typeface="Cambria" pitchFamily="34" charset="-122"/>
                <a:cs typeface="Cambria" pitchFamily="34" charset="-120"/>
              </a:rPr>
              <a:t>$233,081</a:t>
            </a:r>
            <a:endParaRPr lang="en-US" sz="2000" dirty="0"/>
          </a:p>
        </p:txBody>
      </p:sp>
      <p:sp>
        <p:nvSpPr>
          <p:cNvPr id="10" name="Text 7"/>
          <p:cNvSpPr txBox="1"/>
          <p:nvPr/>
        </p:nvSpPr>
        <p:spPr>
          <a:xfrm>
            <a:off x="8942832" y="5166360"/>
            <a:ext cx="1316736" cy="457200"/>
          </a:xfrm>
          <a:prstGeom prst="rect">
            <a:avLst/>
          </a:prstGeom>
          <a:noFill/>
          <a:ln/>
        </p:spPr>
        <p:txBody>
          <a:bodyPr wrap="square" lIns="0" tIns="0" rIns="0" bIns="0" rtlCol="0" anchor="t"/>
          <a:lstStyle/>
          <a:p>
            <a:pPr marL="0" indent="0" algn="ctr">
              <a:buNone/>
            </a:pPr>
            <a:r>
              <a:rPr lang="en-US" sz="1200" dirty="0">
                <a:solidFill>
                  <a:schemeClr val="bg1"/>
                </a:solidFill>
                <a:latin typeface="Calibri" pitchFamily="34" charset="0"/>
                <a:ea typeface="Calibri" pitchFamily="34" charset="-122"/>
                <a:cs typeface="Calibri" pitchFamily="34" charset="-120"/>
              </a:rPr>
              <a:t>total revenue</a:t>
            </a:r>
            <a:endParaRPr lang="en-US" sz="1200" dirty="0"/>
          </a:p>
        </p:txBody>
      </p:sp>
      <p:sp>
        <p:nvSpPr>
          <p:cNvPr id="11" name="Chip 3"/>
          <p:cNvSpPr/>
          <p:nvPr/>
        </p:nvSpPr>
        <p:spPr>
          <a:xfrm>
            <a:off x="10424160" y="4572000"/>
            <a:ext cx="1463040" cy="1143000"/>
          </a:xfrm>
          <a:prstGeom prst="roundRect">
            <a:avLst>
              <a:gd name="adj" fmla="val 8000"/>
            </a:avLst>
          </a:prstGeom>
          <a:solidFill>
            <a:schemeClr val="tx2"/>
          </a:solidFill>
          <a:ln/>
        </p:spPr>
        <p:txBody>
          <a:bodyPr/>
          <a:lstStyle/>
          <a:p>
            <a:endParaRPr lang="en-IN"/>
          </a:p>
        </p:txBody>
      </p:sp>
      <p:sp>
        <p:nvSpPr>
          <p:cNvPr id="12" name="Text 9"/>
          <p:cNvSpPr txBox="1"/>
          <p:nvPr/>
        </p:nvSpPr>
        <p:spPr>
          <a:xfrm>
            <a:off x="10497312" y="4681728"/>
            <a:ext cx="1316736" cy="457200"/>
          </a:xfrm>
          <a:prstGeom prst="rect">
            <a:avLst/>
          </a:prstGeom>
          <a:noFill/>
          <a:ln/>
        </p:spPr>
        <p:txBody>
          <a:bodyPr wrap="square" lIns="0" tIns="0" rIns="0" bIns="0" rtlCol="0" anchor="ctr"/>
          <a:lstStyle/>
          <a:p>
            <a:pPr marL="0" indent="0" algn="ctr">
              <a:buNone/>
            </a:pPr>
            <a:r>
              <a:rPr lang="en-US" sz="2400" b="1" dirty="0">
                <a:solidFill>
                  <a:schemeClr val="accent3"/>
                </a:solidFill>
                <a:latin typeface="Cambria" pitchFamily="34" charset="0"/>
                <a:ea typeface="Cambria" pitchFamily="34" charset="-122"/>
                <a:cs typeface="Cambria" pitchFamily="34" charset="-120"/>
              </a:rPr>
              <a:t>20</a:t>
            </a:r>
            <a:endParaRPr lang="en-US" sz="2400" dirty="0"/>
          </a:p>
        </p:txBody>
      </p:sp>
      <p:sp>
        <p:nvSpPr>
          <p:cNvPr id="13" name="Text 10"/>
          <p:cNvSpPr txBox="1"/>
          <p:nvPr/>
        </p:nvSpPr>
        <p:spPr>
          <a:xfrm>
            <a:off x="10497312" y="5166360"/>
            <a:ext cx="1316736" cy="457200"/>
          </a:xfrm>
          <a:prstGeom prst="rect">
            <a:avLst/>
          </a:prstGeom>
          <a:noFill/>
          <a:ln/>
        </p:spPr>
        <p:txBody>
          <a:bodyPr wrap="square" lIns="0" tIns="0" rIns="0" bIns="0" rtlCol="0" anchor="t"/>
          <a:lstStyle/>
          <a:p>
            <a:pPr marL="0" indent="0" algn="ctr">
              <a:buNone/>
            </a:pPr>
            <a:r>
              <a:rPr lang="en-US" sz="1200" dirty="0">
                <a:solidFill>
                  <a:schemeClr val="bg1"/>
                </a:solidFill>
                <a:latin typeface="Calibri" pitchFamily="34" charset="0"/>
                <a:ea typeface="Calibri" pitchFamily="34" charset="-122"/>
                <a:cs typeface="Calibri" pitchFamily="34" charset="-120"/>
              </a:rPr>
              <a:t>SQL business questions</a:t>
            </a:r>
            <a:endParaRPr lang="en-US" sz="1200" dirty="0"/>
          </a:p>
        </p:txBody>
      </p:sp>
      <p:sp>
        <p:nvSpPr>
          <p:cNvPr id="14" name="Text 11"/>
          <p:cNvSpPr txBox="1"/>
          <p:nvPr/>
        </p:nvSpPr>
        <p:spPr>
          <a:xfrm>
            <a:off x="731520" y="1828800"/>
            <a:ext cx="5760720" cy="320040"/>
          </a:xfrm>
          <a:prstGeom prst="rect">
            <a:avLst/>
          </a:prstGeom>
          <a:noFill/>
          <a:ln/>
        </p:spPr>
        <p:txBody>
          <a:bodyPr wrap="square" lIns="0" tIns="0" rIns="0" bIns="0" rtlCol="0" anchor="ctr"/>
          <a:lstStyle/>
          <a:p>
            <a:pPr marL="0" indent="0">
              <a:buNone/>
            </a:pPr>
            <a:r>
              <a:rPr lang="en-US" sz="1400" b="1" kern="0" spc="300" dirty="0">
                <a:solidFill>
                  <a:schemeClr val="accent3"/>
                </a:solidFill>
                <a:latin typeface="Calibri" pitchFamily="34" charset="0"/>
                <a:ea typeface="Calibri" pitchFamily="34" charset="-122"/>
                <a:cs typeface="Calibri" pitchFamily="34" charset="-120"/>
              </a:rPr>
              <a:t>CUSTOMER ANALYTICS PROJECT</a:t>
            </a:r>
            <a:endParaRPr lang="en-US" sz="1400" dirty="0"/>
          </a:p>
        </p:txBody>
      </p:sp>
      <p:sp>
        <p:nvSpPr>
          <p:cNvPr id="15" name="Text 12"/>
          <p:cNvSpPr txBox="1"/>
          <p:nvPr/>
        </p:nvSpPr>
        <p:spPr>
          <a:xfrm>
            <a:off x="731520" y="2286000"/>
            <a:ext cx="5852160" cy="1737360"/>
          </a:xfrm>
          <a:prstGeom prst="rect">
            <a:avLst/>
          </a:prstGeom>
          <a:noFill/>
          <a:ln/>
        </p:spPr>
        <p:txBody>
          <a:bodyPr wrap="square" lIns="0" tIns="0" rIns="0" bIns="0" rtlCol="0" anchor="t"/>
          <a:lstStyle/>
          <a:p>
            <a:pPr marL="0" indent="0">
              <a:buNone/>
            </a:pPr>
            <a:r>
              <a:rPr lang="en-US" sz="4400" b="1" dirty="0">
                <a:solidFill>
                  <a:schemeClr val="bg1"/>
                </a:solidFill>
                <a:latin typeface="Cambria" pitchFamily="34" charset="0"/>
                <a:ea typeface="Cambria" pitchFamily="34" charset="-122"/>
                <a:cs typeface="Cambria" pitchFamily="34" charset="-120"/>
              </a:rPr>
              <a:t>Customer Shopping Behavior Analysis</a:t>
            </a:r>
            <a:endParaRPr lang="en-US" sz="4400" dirty="0"/>
          </a:p>
        </p:txBody>
      </p:sp>
      <p:sp>
        <p:nvSpPr>
          <p:cNvPr id="16" name="Text 13"/>
          <p:cNvSpPr txBox="1"/>
          <p:nvPr/>
        </p:nvSpPr>
        <p:spPr>
          <a:xfrm>
            <a:off x="731520" y="4160520"/>
            <a:ext cx="5669280" cy="822960"/>
          </a:xfrm>
          <a:prstGeom prst="rect">
            <a:avLst/>
          </a:prstGeom>
          <a:noFill/>
          <a:ln/>
        </p:spPr>
        <p:txBody>
          <a:bodyPr wrap="square" lIns="0" tIns="0" rIns="0" bIns="0" rtlCol="0" anchor="t"/>
          <a:lstStyle/>
          <a:p>
            <a:pPr marL="0" indent="0">
              <a:buNone/>
            </a:pPr>
            <a:r>
              <a:rPr lang="en-US" sz="1800" dirty="0">
                <a:solidFill>
                  <a:schemeClr val="bg2"/>
                </a:solidFill>
                <a:latin typeface="Calibri" pitchFamily="34" charset="0"/>
                <a:ea typeface="Calibri" pitchFamily="34" charset="-122"/>
                <a:cs typeface="Calibri" pitchFamily="34" charset="-120"/>
              </a:rPr>
              <a:t>Uncovering insights from 3,900 customers to guide strategic business decisions</a:t>
            </a:r>
            <a:endParaRPr lang="en-US" sz="1800" dirty="0"/>
          </a:p>
        </p:txBody>
      </p:sp>
      <p:sp>
        <p:nvSpPr>
          <p:cNvPr id="17" name="Text 14"/>
          <p:cNvSpPr txBox="1"/>
          <p:nvPr/>
        </p:nvSpPr>
        <p:spPr>
          <a:xfrm>
            <a:off x="731520" y="5989320"/>
            <a:ext cx="5486400" cy="320040"/>
          </a:xfrm>
          <a:prstGeom prst="rect">
            <a:avLst/>
          </a:prstGeom>
          <a:noFill/>
          <a:ln/>
        </p:spPr>
        <p:txBody>
          <a:bodyPr wrap="square" lIns="0" tIns="0" rIns="0" bIns="0" rtlCol="0" anchor="ctr"/>
          <a:lstStyle/>
          <a:p>
            <a:pPr marL="0" indent="0">
              <a:buNone/>
            </a:pPr>
            <a:r>
              <a:rPr lang="en-US" sz="1400" dirty="0">
                <a:solidFill>
                  <a:schemeClr val="accent3"/>
                </a:solidFill>
                <a:latin typeface="Calibri" pitchFamily="34" charset="0"/>
                <a:ea typeface="Calibri" pitchFamily="34" charset="-122"/>
                <a:cs typeface="Calibri" pitchFamily="34" charset="-120"/>
              </a:rPr>
              <a:t>Python  |  MySQL  |  Power BI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a:ln/>
        </p:spPr>
        <p:txBody>
          <a:bodyPr wrap="square" lIns="0" tIns="0" rIns="0" bIns="0" rtlCol="0" anchor="ctr"/>
          <a:lstStyle/>
          <a:p>
            <a:pPr marL="0" indent="0" algn="l">
              <a:buNone/>
            </a:pPr>
            <a:r>
              <a:rPr lang="en-US" sz="3600" b="1" dirty="0">
                <a:solidFill>
                  <a:schemeClr val="tx1"/>
                </a:solidFill>
              </a:rPr>
              <a:t>Dataset Overview</a:t>
            </a:r>
            <a:endParaRPr lang="en-US" sz="3600" dirty="0"/>
          </a:p>
        </p:txBody>
      </p:sp>
      <p:sp>
        <p:nvSpPr>
          <p:cNvPr id="27"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
        <p:nvSpPr>
          <p:cNvPr id="3" name="Stat card 1"/>
          <p:cNvSpPr/>
          <p:nvPr/>
        </p:nvSpPr>
        <p:spPr>
          <a:xfrm>
            <a:off x="548640" y="1691640"/>
            <a:ext cx="2560320" cy="3931920"/>
          </a:xfrm>
          <a:prstGeom prst="roundRect">
            <a:avLst>
              <a:gd name="adj" fmla="val 4286"/>
            </a:avLst>
          </a:prstGeom>
          <a:solidFill>
            <a:schemeClr val="bg2"/>
          </a:solidFill>
          <a:ln/>
        </p:spPr>
        <p:txBody>
          <a:bodyPr/>
          <a:lstStyle/>
          <a:p>
            <a:endParaRPr lang="en-IN"/>
          </a:p>
        </p:txBody>
      </p:sp>
      <p:sp>
        <p:nvSpPr>
          <p:cNvPr id="4" name="Stat icon 1 circle"/>
          <p:cNvSpPr/>
          <p:nvPr/>
        </p:nvSpPr>
        <p:spPr>
          <a:xfrm>
            <a:off x="868680" y="2057400"/>
            <a:ext cx="731520" cy="731520"/>
          </a:xfrm>
          <a:prstGeom prst="ellipse">
            <a:avLst/>
          </a:prstGeom>
          <a:solidFill>
            <a:schemeClr val="accent1"/>
          </a:solidFill>
          <a:ln/>
        </p:spPr>
        <p:txBody>
          <a:bodyPr/>
          <a:lstStyle/>
          <a:p>
            <a:endParaRPr lang="en-IN"/>
          </a:p>
        </p:txBody>
      </p:sp>
      <p:pic>
        <p:nvPicPr>
          <p:cNvPr id="5" name="Image 0" descr="Stat icon 1"/>
          <p:cNvPicPr>
            <a:picLocks noChangeAspect="1"/>
          </p:cNvPicPr>
          <p:nvPr/>
        </p:nvPicPr>
        <p:blipFill>
          <a:blip r:embed="rId3"/>
          <a:stretch>
            <a:fillRect/>
          </a:stretch>
        </p:blipFill>
        <p:spPr>
          <a:xfrm>
            <a:off x="1058875" y="2247595"/>
            <a:ext cx="351130" cy="351130"/>
          </a:xfrm>
          <a:prstGeom prst="rect">
            <a:avLst/>
          </a:prstGeom>
        </p:spPr>
      </p:pic>
      <p:sp>
        <p:nvSpPr>
          <p:cNvPr id="6" name="Text 3"/>
          <p:cNvSpPr txBox="1"/>
          <p:nvPr/>
        </p:nvSpPr>
        <p:spPr>
          <a:xfrm>
            <a:off x="868680" y="2971800"/>
            <a:ext cx="2011680" cy="822960"/>
          </a:xfrm>
          <a:prstGeom prst="rect">
            <a:avLst/>
          </a:prstGeom>
          <a:noFill/>
          <a:ln/>
        </p:spPr>
        <p:txBody>
          <a:bodyPr wrap="square" lIns="0" tIns="0" rIns="0" bIns="0" rtlCol="0" anchor="ctr"/>
          <a:lstStyle/>
          <a:p>
            <a:pPr marL="0" indent="0">
              <a:buNone/>
            </a:pPr>
            <a:r>
              <a:rPr lang="en-US" sz="4600" b="1" dirty="0">
                <a:solidFill>
                  <a:schemeClr val="tx1"/>
                </a:solidFill>
                <a:latin typeface="Cambria" pitchFamily="34" charset="0"/>
                <a:ea typeface="Cambria" pitchFamily="34" charset="-122"/>
                <a:cs typeface="Cambria" pitchFamily="34" charset="-120"/>
              </a:rPr>
              <a:t>3,900</a:t>
            </a:r>
            <a:endParaRPr lang="en-US" sz="4600" dirty="0"/>
          </a:p>
        </p:txBody>
      </p:sp>
      <p:sp>
        <p:nvSpPr>
          <p:cNvPr id="7" name="Text 4"/>
          <p:cNvSpPr txBox="1"/>
          <p:nvPr/>
        </p:nvSpPr>
        <p:spPr>
          <a:xfrm>
            <a:off x="868680" y="3840480"/>
            <a:ext cx="2011680" cy="36576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Customers</a:t>
            </a:r>
            <a:endParaRPr lang="en-US" sz="1800" dirty="0"/>
          </a:p>
        </p:txBody>
      </p:sp>
      <p:sp>
        <p:nvSpPr>
          <p:cNvPr id="8" name="Text 5"/>
          <p:cNvSpPr txBox="1"/>
          <p:nvPr/>
        </p:nvSpPr>
        <p:spPr>
          <a:xfrm>
            <a:off x="868680" y="4251960"/>
            <a:ext cx="2011680" cy="1005840"/>
          </a:xfrm>
          <a:prstGeom prst="rect">
            <a:avLst/>
          </a:prstGeom>
          <a:noFill/>
          <a:ln/>
        </p:spPr>
        <p:txBody>
          <a:bodyPr wrap="square" lIns="0" tIns="0" rIns="0" bIns="0" rtlCol="0" anchor="t"/>
          <a:lstStyle/>
          <a:p>
            <a:pPr marL="0" indent="0">
              <a:buNone/>
            </a:pPr>
            <a:r>
              <a:rPr lang="en-US" sz="1400" dirty="0">
                <a:solidFill>
                  <a:schemeClr val="accent4"/>
                </a:solidFill>
                <a:latin typeface="Calibri" pitchFamily="34" charset="0"/>
                <a:ea typeface="Calibri" pitchFamily="34" charset="-122"/>
                <a:cs typeface="Calibri" pitchFamily="34" charset="-120"/>
              </a:rPr>
              <a:t>One purchase record per unique customer</a:t>
            </a:r>
            <a:endParaRPr lang="en-US" sz="1400" dirty="0"/>
          </a:p>
        </p:txBody>
      </p:sp>
      <p:sp>
        <p:nvSpPr>
          <p:cNvPr id="9" name="Stat card 2"/>
          <p:cNvSpPr/>
          <p:nvPr/>
        </p:nvSpPr>
        <p:spPr>
          <a:xfrm>
            <a:off x="3383280" y="1691640"/>
            <a:ext cx="2560320" cy="3931920"/>
          </a:xfrm>
          <a:prstGeom prst="roundRect">
            <a:avLst>
              <a:gd name="adj" fmla="val 4286"/>
            </a:avLst>
          </a:prstGeom>
          <a:solidFill>
            <a:schemeClr val="bg2"/>
          </a:solidFill>
          <a:ln/>
        </p:spPr>
        <p:txBody>
          <a:bodyPr/>
          <a:lstStyle/>
          <a:p>
            <a:endParaRPr lang="en-IN"/>
          </a:p>
        </p:txBody>
      </p:sp>
      <p:sp>
        <p:nvSpPr>
          <p:cNvPr id="10" name="Stat icon 2 circle"/>
          <p:cNvSpPr/>
          <p:nvPr/>
        </p:nvSpPr>
        <p:spPr>
          <a:xfrm>
            <a:off x="3703320" y="2057400"/>
            <a:ext cx="731520" cy="731520"/>
          </a:xfrm>
          <a:prstGeom prst="ellipse">
            <a:avLst/>
          </a:prstGeom>
          <a:solidFill>
            <a:schemeClr val="accent1"/>
          </a:solidFill>
          <a:ln/>
        </p:spPr>
        <p:txBody>
          <a:bodyPr/>
          <a:lstStyle/>
          <a:p>
            <a:endParaRPr lang="en-IN"/>
          </a:p>
        </p:txBody>
      </p:sp>
      <p:pic>
        <p:nvPicPr>
          <p:cNvPr id="11" name="Image 1" descr="Stat icon 2"/>
          <p:cNvPicPr>
            <a:picLocks noChangeAspect="1"/>
          </p:cNvPicPr>
          <p:nvPr/>
        </p:nvPicPr>
        <p:blipFill>
          <a:blip r:embed="rId4"/>
          <a:stretch>
            <a:fillRect/>
          </a:stretch>
        </p:blipFill>
        <p:spPr>
          <a:xfrm>
            <a:off x="3893515" y="2247595"/>
            <a:ext cx="351130" cy="351130"/>
          </a:xfrm>
          <a:prstGeom prst="rect">
            <a:avLst/>
          </a:prstGeom>
        </p:spPr>
      </p:pic>
      <p:sp>
        <p:nvSpPr>
          <p:cNvPr id="12" name="Text 8"/>
          <p:cNvSpPr txBox="1"/>
          <p:nvPr/>
        </p:nvSpPr>
        <p:spPr>
          <a:xfrm>
            <a:off x="3703320" y="2971800"/>
            <a:ext cx="2011680" cy="822960"/>
          </a:xfrm>
          <a:prstGeom prst="rect">
            <a:avLst/>
          </a:prstGeom>
          <a:noFill/>
          <a:ln/>
        </p:spPr>
        <p:txBody>
          <a:bodyPr wrap="square" lIns="0" tIns="0" rIns="0" bIns="0" rtlCol="0" anchor="ctr"/>
          <a:lstStyle/>
          <a:p>
            <a:pPr marL="0" indent="0">
              <a:buNone/>
            </a:pPr>
            <a:r>
              <a:rPr lang="en-US" sz="4600" b="1" dirty="0">
                <a:solidFill>
                  <a:schemeClr val="tx1"/>
                </a:solidFill>
                <a:latin typeface="Cambria" pitchFamily="34" charset="0"/>
                <a:ea typeface="Cambria" pitchFamily="34" charset="-122"/>
                <a:cs typeface="Cambria" pitchFamily="34" charset="-120"/>
              </a:rPr>
              <a:t>18</a:t>
            </a:r>
            <a:endParaRPr lang="en-US" sz="4600" dirty="0"/>
          </a:p>
        </p:txBody>
      </p:sp>
      <p:sp>
        <p:nvSpPr>
          <p:cNvPr id="13" name="Text 9"/>
          <p:cNvSpPr txBox="1"/>
          <p:nvPr/>
        </p:nvSpPr>
        <p:spPr>
          <a:xfrm>
            <a:off x="3703320" y="3840480"/>
            <a:ext cx="2011680" cy="36576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Data columns</a:t>
            </a:r>
            <a:endParaRPr lang="en-US" sz="1800" dirty="0"/>
          </a:p>
        </p:txBody>
      </p:sp>
      <p:sp>
        <p:nvSpPr>
          <p:cNvPr id="14" name="Text 10"/>
          <p:cNvSpPr txBox="1"/>
          <p:nvPr/>
        </p:nvSpPr>
        <p:spPr>
          <a:xfrm>
            <a:off x="3703320" y="4251960"/>
            <a:ext cx="2011680" cy="1005840"/>
          </a:xfrm>
          <a:prstGeom prst="rect">
            <a:avLst/>
          </a:prstGeom>
          <a:noFill/>
          <a:ln/>
        </p:spPr>
        <p:txBody>
          <a:bodyPr wrap="square" lIns="0" tIns="0" rIns="0" bIns="0" rtlCol="0" anchor="t"/>
          <a:lstStyle/>
          <a:p>
            <a:pPr marL="0" indent="0">
              <a:buNone/>
            </a:pPr>
            <a:r>
              <a:rPr lang="en-US" sz="1400" dirty="0">
                <a:solidFill>
                  <a:schemeClr val="accent4"/>
                </a:solidFill>
                <a:latin typeface="Calibri" pitchFamily="34" charset="0"/>
                <a:ea typeface="Calibri" pitchFamily="34" charset="-122"/>
                <a:cs typeface="Calibri" pitchFamily="34" charset="-120"/>
              </a:rPr>
              <a:t>Demographics, products and shopping behavior</a:t>
            </a:r>
            <a:endParaRPr lang="en-US" sz="1400" dirty="0"/>
          </a:p>
        </p:txBody>
      </p:sp>
      <p:sp>
        <p:nvSpPr>
          <p:cNvPr id="15" name="Stat card 3"/>
          <p:cNvSpPr/>
          <p:nvPr/>
        </p:nvSpPr>
        <p:spPr>
          <a:xfrm>
            <a:off x="6217920" y="1691640"/>
            <a:ext cx="2560320" cy="3931920"/>
          </a:xfrm>
          <a:prstGeom prst="roundRect">
            <a:avLst>
              <a:gd name="adj" fmla="val 4286"/>
            </a:avLst>
          </a:prstGeom>
          <a:solidFill>
            <a:schemeClr val="bg2"/>
          </a:solidFill>
          <a:ln/>
        </p:spPr>
        <p:txBody>
          <a:bodyPr/>
          <a:lstStyle/>
          <a:p>
            <a:endParaRPr lang="en-IN"/>
          </a:p>
        </p:txBody>
      </p:sp>
      <p:sp>
        <p:nvSpPr>
          <p:cNvPr id="16" name="Stat icon 3 circle"/>
          <p:cNvSpPr/>
          <p:nvPr/>
        </p:nvSpPr>
        <p:spPr>
          <a:xfrm>
            <a:off x="6537960" y="2057400"/>
            <a:ext cx="731520" cy="731520"/>
          </a:xfrm>
          <a:prstGeom prst="ellipse">
            <a:avLst/>
          </a:prstGeom>
          <a:solidFill>
            <a:schemeClr val="accent1"/>
          </a:solidFill>
          <a:ln/>
        </p:spPr>
        <p:txBody>
          <a:bodyPr/>
          <a:lstStyle/>
          <a:p>
            <a:endParaRPr lang="en-IN"/>
          </a:p>
        </p:txBody>
      </p:sp>
      <p:pic>
        <p:nvPicPr>
          <p:cNvPr id="17" name="Image 2" descr="Stat icon 3"/>
          <p:cNvPicPr>
            <a:picLocks noChangeAspect="1"/>
          </p:cNvPicPr>
          <p:nvPr/>
        </p:nvPicPr>
        <p:blipFill>
          <a:blip r:embed="rId5"/>
          <a:stretch>
            <a:fillRect/>
          </a:stretch>
        </p:blipFill>
        <p:spPr>
          <a:xfrm>
            <a:off x="6728155" y="2247595"/>
            <a:ext cx="351130" cy="351130"/>
          </a:xfrm>
          <a:prstGeom prst="rect">
            <a:avLst/>
          </a:prstGeom>
        </p:spPr>
      </p:pic>
      <p:sp>
        <p:nvSpPr>
          <p:cNvPr id="18" name="Text 13"/>
          <p:cNvSpPr txBox="1"/>
          <p:nvPr/>
        </p:nvSpPr>
        <p:spPr>
          <a:xfrm>
            <a:off x="6537960" y="2971800"/>
            <a:ext cx="2011680" cy="822960"/>
          </a:xfrm>
          <a:prstGeom prst="rect">
            <a:avLst/>
          </a:prstGeom>
          <a:noFill/>
          <a:ln/>
        </p:spPr>
        <p:txBody>
          <a:bodyPr wrap="square" lIns="0" tIns="0" rIns="0" bIns="0" rtlCol="0" anchor="ctr"/>
          <a:lstStyle/>
          <a:p>
            <a:pPr marL="0" indent="0">
              <a:buNone/>
            </a:pPr>
            <a:r>
              <a:rPr lang="en-US" sz="4600" b="1" dirty="0">
                <a:solidFill>
                  <a:schemeClr val="tx1"/>
                </a:solidFill>
                <a:latin typeface="Cambria" pitchFamily="34" charset="0"/>
                <a:ea typeface="Cambria" pitchFamily="34" charset="-122"/>
                <a:cs typeface="Cambria" pitchFamily="34" charset="-120"/>
              </a:rPr>
              <a:t>37</a:t>
            </a:r>
            <a:endParaRPr lang="en-US" sz="4600" dirty="0"/>
          </a:p>
        </p:txBody>
      </p:sp>
      <p:sp>
        <p:nvSpPr>
          <p:cNvPr id="19" name="Text 14"/>
          <p:cNvSpPr txBox="1"/>
          <p:nvPr/>
        </p:nvSpPr>
        <p:spPr>
          <a:xfrm>
            <a:off x="6537960" y="3840480"/>
            <a:ext cx="2011680" cy="36576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Missing values</a:t>
            </a:r>
            <a:endParaRPr lang="en-US" sz="1800" dirty="0"/>
          </a:p>
        </p:txBody>
      </p:sp>
      <p:sp>
        <p:nvSpPr>
          <p:cNvPr id="20" name="Text 15"/>
          <p:cNvSpPr txBox="1"/>
          <p:nvPr/>
        </p:nvSpPr>
        <p:spPr>
          <a:xfrm>
            <a:off x="6537960" y="4251960"/>
            <a:ext cx="2011680" cy="1005840"/>
          </a:xfrm>
          <a:prstGeom prst="rect">
            <a:avLst/>
          </a:prstGeom>
          <a:noFill/>
          <a:ln/>
        </p:spPr>
        <p:txBody>
          <a:bodyPr wrap="square" lIns="0" tIns="0" rIns="0" bIns="0" rtlCol="0" anchor="t"/>
          <a:lstStyle/>
          <a:p>
            <a:pPr marL="0" indent="0">
              <a:buNone/>
            </a:pPr>
            <a:r>
              <a:rPr lang="en-US" sz="1400" dirty="0">
                <a:solidFill>
                  <a:schemeClr val="accent4"/>
                </a:solidFill>
                <a:latin typeface="Calibri" pitchFamily="34" charset="0"/>
                <a:ea typeface="Calibri" pitchFamily="34" charset="-122"/>
                <a:cs typeface="Calibri" pitchFamily="34" charset="-120"/>
              </a:rPr>
              <a:t>Only in the Review Rating column</a:t>
            </a:r>
            <a:endParaRPr lang="en-US" sz="1400" dirty="0"/>
          </a:p>
        </p:txBody>
      </p:sp>
      <p:sp>
        <p:nvSpPr>
          <p:cNvPr id="21" name="Stat card 4"/>
          <p:cNvSpPr/>
          <p:nvPr/>
        </p:nvSpPr>
        <p:spPr>
          <a:xfrm>
            <a:off x="9052560" y="1691640"/>
            <a:ext cx="2560320" cy="3931920"/>
          </a:xfrm>
          <a:prstGeom prst="roundRect">
            <a:avLst>
              <a:gd name="adj" fmla="val 4286"/>
            </a:avLst>
          </a:prstGeom>
          <a:solidFill>
            <a:schemeClr val="bg2"/>
          </a:solidFill>
          <a:ln/>
        </p:spPr>
        <p:txBody>
          <a:bodyPr/>
          <a:lstStyle/>
          <a:p>
            <a:endParaRPr lang="en-IN"/>
          </a:p>
        </p:txBody>
      </p:sp>
      <p:sp>
        <p:nvSpPr>
          <p:cNvPr id="22" name="Stat icon 4 circle"/>
          <p:cNvSpPr/>
          <p:nvPr/>
        </p:nvSpPr>
        <p:spPr>
          <a:xfrm>
            <a:off x="9372600" y="2057400"/>
            <a:ext cx="731520" cy="731520"/>
          </a:xfrm>
          <a:prstGeom prst="ellipse">
            <a:avLst/>
          </a:prstGeom>
          <a:solidFill>
            <a:schemeClr val="accent1"/>
          </a:solidFill>
          <a:ln/>
        </p:spPr>
        <p:txBody>
          <a:bodyPr/>
          <a:lstStyle/>
          <a:p>
            <a:endParaRPr lang="en-IN"/>
          </a:p>
        </p:txBody>
      </p:sp>
      <p:pic>
        <p:nvPicPr>
          <p:cNvPr id="23" name="Image 3" descr="Stat icon 4"/>
          <p:cNvPicPr>
            <a:picLocks noChangeAspect="1"/>
          </p:cNvPicPr>
          <p:nvPr/>
        </p:nvPicPr>
        <p:blipFill>
          <a:blip r:embed="rId6"/>
          <a:stretch>
            <a:fillRect/>
          </a:stretch>
        </p:blipFill>
        <p:spPr>
          <a:xfrm>
            <a:off x="9562795" y="2247595"/>
            <a:ext cx="351130" cy="351130"/>
          </a:xfrm>
          <a:prstGeom prst="rect">
            <a:avLst/>
          </a:prstGeom>
        </p:spPr>
      </p:pic>
      <p:sp>
        <p:nvSpPr>
          <p:cNvPr id="24" name="Text 18"/>
          <p:cNvSpPr txBox="1"/>
          <p:nvPr/>
        </p:nvSpPr>
        <p:spPr>
          <a:xfrm>
            <a:off x="9372600" y="2971800"/>
            <a:ext cx="2011680" cy="822960"/>
          </a:xfrm>
          <a:prstGeom prst="rect">
            <a:avLst/>
          </a:prstGeom>
          <a:noFill/>
          <a:ln/>
        </p:spPr>
        <p:txBody>
          <a:bodyPr wrap="square" lIns="0" tIns="0" rIns="0" bIns="0" rtlCol="0" anchor="ctr"/>
          <a:lstStyle/>
          <a:p>
            <a:pPr marL="0" indent="0">
              <a:buNone/>
            </a:pPr>
            <a:r>
              <a:rPr lang="en-US" sz="4600" b="1" dirty="0">
                <a:solidFill>
                  <a:schemeClr val="tx1"/>
                </a:solidFill>
                <a:latin typeface="Cambria" pitchFamily="34" charset="0"/>
                <a:ea typeface="Cambria" pitchFamily="34" charset="-122"/>
                <a:cs typeface="Cambria" pitchFamily="34" charset="-120"/>
              </a:rPr>
              <a:t>$59.76</a:t>
            </a:r>
            <a:endParaRPr lang="en-US" sz="4600" dirty="0"/>
          </a:p>
        </p:txBody>
      </p:sp>
      <p:sp>
        <p:nvSpPr>
          <p:cNvPr id="25" name="Text 19"/>
          <p:cNvSpPr txBox="1"/>
          <p:nvPr/>
        </p:nvSpPr>
        <p:spPr>
          <a:xfrm>
            <a:off x="9372600" y="3840480"/>
            <a:ext cx="2011680" cy="36576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Average purchase</a:t>
            </a:r>
            <a:endParaRPr lang="en-US" sz="1800" dirty="0"/>
          </a:p>
        </p:txBody>
      </p:sp>
      <p:sp>
        <p:nvSpPr>
          <p:cNvPr id="26" name="Text 20"/>
          <p:cNvSpPr txBox="1"/>
          <p:nvPr/>
        </p:nvSpPr>
        <p:spPr>
          <a:xfrm>
            <a:off x="9372600" y="4251960"/>
            <a:ext cx="2011680" cy="1005840"/>
          </a:xfrm>
          <a:prstGeom prst="rect">
            <a:avLst/>
          </a:prstGeom>
          <a:noFill/>
          <a:ln/>
        </p:spPr>
        <p:txBody>
          <a:bodyPr wrap="square" lIns="0" tIns="0" rIns="0" bIns="0" rtlCol="0" anchor="t"/>
          <a:lstStyle/>
          <a:p>
            <a:pPr marL="0" indent="0">
              <a:buNone/>
            </a:pPr>
            <a:r>
              <a:rPr lang="en-US" sz="1400" dirty="0">
                <a:solidFill>
                  <a:schemeClr val="accent4"/>
                </a:solidFill>
                <a:latin typeface="Calibri" pitchFamily="34" charset="0"/>
                <a:ea typeface="Calibri" pitchFamily="34" charset="-122"/>
                <a:cs typeface="Calibri" pitchFamily="34" charset="-120"/>
              </a:rPr>
              <a:t>Purchase amounts range from $20 to $100</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a:ln/>
        </p:spPr>
        <p:txBody>
          <a:bodyPr wrap="square" lIns="0" tIns="0" rIns="0" bIns="0" rtlCol="0" anchor="ctr"/>
          <a:lstStyle/>
          <a:p>
            <a:pPr marL="0" indent="0" algn="l">
              <a:buNone/>
            </a:pPr>
            <a:r>
              <a:rPr lang="en-US" sz="3600" b="1" dirty="0">
                <a:solidFill>
                  <a:schemeClr val="tx1"/>
                </a:solidFill>
              </a:rPr>
              <a:t>Data Preparation Process</a:t>
            </a:r>
            <a:endParaRPr lang="en-US" sz="3600" dirty="0"/>
          </a:p>
        </p:txBody>
      </p:sp>
      <p:sp>
        <p:nvSpPr>
          <p:cNvPr id="30"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a:t>
            </a:fld>
            <a:endParaRPr lang="en-US"/>
          </a:p>
        </p:txBody>
      </p:sp>
      <p:sp>
        <p:nvSpPr>
          <p:cNvPr id="3" name="Step card 01"/>
          <p:cNvSpPr/>
          <p:nvPr/>
        </p:nvSpPr>
        <p:spPr>
          <a:xfrm>
            <a:off x="548640" y="1645920"/>
            <a:ext cx="2011680" cy="3474720"/>
          </a:xfrm>
          <a:prstGeom prst="roundRect">
            <a:avLst>
              <a:gd name="adj" fmla="val 5455"/>
            </a:avLst>
          </a:prstGeom>
          <a:solidFill>
            <a:schemeClr val="bg2"/>
          </a:solidFill>
          <a:ln/>
        </p:spPr>
        <p:txBody>
          <a:bodyPr/>
          <a:lstStyle/>
          <a:p>
            <a:endParaRPr lang="en-IN"/>
          </a:p>
        </p:txBody>
      </p:sp>
      <p:sp>
        <p:nvSpPr>
          <p:cNvPr id="4" name="Step number circle 01"/>
          <p:cNvSpPr/>
          <p:nvPr/>
        </p:nvSpPr>
        <p:spPr>
          <a:xfrm>
            <a:off x="822960" y="1965960"/>
            <a:ext cx="731520" cy="731520"/>
          </a:xfrm>
          <a:prstGeom prst="ellipse">
            <a:avLst/>
          </a:prstGeom>
          <a:solidFill>
            <a:schemeClr val="accent1"/>
          </a:solidFill>
          <a:ln/>
        </p:spPr>
        <p:txBody>
          <a:bodyPr/>
          <a:lstStyle/>
          <a:p>
            <a:endParaRPr lang="en-IN"/>
          </a:p>
        </p:txBody>
      </p:sp>
      <p:sp>
        <p:nvSpPr>
          <p:cNvPr id="5" name="Text 3"/>
          <p:cNvSpPr txBox="1"/>
          <p:nvPr/>
        </p:nvSpPr>
        <p:spPr>
          <a:xfrm>
            <a:off x="822960" y="1965960"/>
            <a:ext cx="731520" cy="73152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01</a:t>
            </a:r>
            <a:endParaRPr lang="en-US" sz="2000" dirty="0"/>
          </a:p>
        </p:txBody>
      </p:sp>
      <p:sp>
        <p:nvSpPr>
          <p:cNvPr id="6" name="Text 4"/>
          <p:cNvSpPr txBox="1"/>
          <p:nvPr/>
        </p:nvSpPr>
        <p:spPr>
          <a:xfrm>
            <a:off x="822960" y="2926080"/>
            <a:ext cx="1554480" cy="731520"/>
          </a:xfrm>
          <a:prstGeom prst="rect">
            <a:avLst/>
          </a:prstGeom>
          <a:noFill/>
          <a:ln/>
        </p:spPr>
        <p:txBody>
          <a:bodyPr wrap="square" lIns="0" tIns="0" rIns="0" bIns="0" rtlCol="0" anchor="t"/>
          <a:lstStyle/>
          <a:p>
            <a:pPr marL="0" indent="0">
              <a:buNone/>
            </a:pPr>
            <a:r>
              <a:rPr lang="en-US" sz="1800" b="1" dirty="0">
                <a:solidFill>
                  <a:schemeClr val="tx1"/>
                </a:solidFill>
                <a:latin typeface="Calibri" pitchFamily="34" charset="0"/>
                <a:ea typeface="Calibri" pitchFamily="34" charset="-122"/>
                <a:cs typeface="Calibri" pitchFamily="34" charset="-120"/>
              </a:rPr>
              <a:t>Data Loading</a:t>
            </a:r>
            <a:endParaRPr lang="en-US" sz="1800" dirty="0"/>
          </a:p>
        </p:txBody>
      </p:sp>
      <p:sp>
        <p:nvSpPr>
          <p:cNvPr id="7" name="Text 5"/>
          <p:cNvSpPr txBox="1"/>
          <p:nvPr/>
        </p:nvSpPr>
        <p:spPr>
          <a:xfrm>
            <a:off x="822960" y="3703320"/>
            <a:ext cx="1554480" cy="1280160"/>
          </a:xfrm>
          <a:prstGeom prst="rect">
            <a:avLst/>
          </a:prstGeom>
          <a:noFill/>
          <a:ln/>
        </p:spPr>
        <p:txBody>
          <a:bodyPr wrap="square" lIns="0" tIns="0" rIns="0" bIns="0" rtlCol="0" anchor="t"/>
          <a:lstStyle/>
          <a:p>
            <a:pPr marL="0" indent="0">
              <a:buNone/>
            </a:pPr>
            <a:r>
              <a:rPr lang="en-US" sz="1600" dirty="0">
                <a:solidFill>
                  <a:schemeClr val="accent4"/>
                </a:solidFill>
                <a:latin typeface="Calibri" pitchFamily="34" charset="0"/>
                <a:ea typeface="Calibri" pitchFamily="34" charset="-122"/>
                <a:cs typeface="Calibri" pitchFamily="34" charset="-120"/>
              </a:rPr>
              <a:t>Imported the dataset using pandas</a:t>
            </a:r>
            <a:endParaRPr lang="en-US" sz="1600" dirty="0"/>
          </a:p>
        </p:txBody>
      </p:sp>
      <p:sp>
        <p:nvSpPr>
          <p:cNvPr id="8" name="Step card 02"/>
          <p:cNvSpPr/>
          <p:nvPr/>
        </p:nvSpPr>
        <p:spPr>
          <a:xfrm>
            <a:off x="2811780" y="1645920"/>
            <a:ext cx="2011680" cy="3474720"/>
          </a:xfrm>
          <a:prstGeom prst="roundRect">
            <a:avLst>
              <a:gd name="adj" fmla="val 5455"/>
            </a:avLst>
          </a:prstGeom>
          <a:solidFill>
            <a:schemeClr val="bg2"/>
          </a:solidFill>
          <a:ln/>
        </p:spPr>
        <p:txBody>
          <a:bodyPr/>
          <a:lstStyle/>
          <a:p>
            <a:endParaRPr lang="en-IN"/>
          </a:p>
        </p:txBody>
      </p:sp>
      <p:sp>
        <p:nvSpPr>
          <p:cNvPr id="9" name="Step number circle 02"/>
          <p:cNvSpPr/>
          <p:nvPr/>
        </p:nvSpPr>
        <p:spPr>
          <a:xfrm>
            <a:off x="3086100" y="1965960"/>
            <a:ext cx="731520" cy="731520"/>
          </a:xfrm>
          <a:prstGeom prst="ellipse">
            <a:avLst/>
          </a:prstGeom>
          <a:solidFill>
            <a:schemeClr val="accent1"/>
          </a:solidFill>
          <a:ln/>
        </p:spPr>
        <p:txBody>
          <a:bodyPr/>
          <a:lstStyle/>
          <a:p>
            <a:endParaRPr lang="en-IN"/>
          </a:p>
        </p:txBody>
      </p:sp>
      <p:sp>
        <p:nvSpPr>
          <p:cNvPr id="10" name="Text 8"/>
          <p:cNvSpPr txBox="1"/>
          <p:nvPr/>
        </p:nvSpPr>
        <p:spPr>
          <a:xfrm>
            <a:off x="3086100" y="1965960"/>
            <a:ext cx="731520" cy="73152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02</a:t>
            </a:r>
            <a:endParaRPr lang="en-US" sz="2000" dirty="0"/>
          </a:p>
        </p:txBody>
      </p:sp>
      <p:sp>
        <p:nvSpPr>
          <p:cNvPr id="11" name="Text 9"/>
          <p:cNvSpPr txBox="1"/>
          <p:nvPr/>
        </p:nvSpPr>
        <p:spPr>
          <a:xfrm>
            <a:off x="3086100" y="2926080"/>
            <a:ext cx="1554480" cy="731520"/>
          </a:xfrm>
          <a:prstGeom prst="rect">
            <a:avLst/>
          </a:prstGeom>
          <a:noFill/>
          <a:ln/>
        </p:spPr>
        <p:txBody>
          <a:bodyPr wrap="square" lIns="0" tIns="0" rIns="0" bIns="0" rtlCol="0" anchor="t"/>
          <a:lstStyle/>
          <a:p>
            <a:pPr marL="0" indent="0">
              <a:buNone/>
            </a:pPr>
            <a:r>
              <a:rPr lang="en-US" sz="1800" b="1" dirty="0">
                <a:solidFill>
                  <a:schemeClr val="tx1"/>
                </a:solidFill>
                <a:latin typeface="Calibri" pitchFamily="34" charset="0"/>
                <a:ea typeface="Calibri" pitchFamily="34" charset="-122"/>
                <a:cs typeface="Calibri" pitchFamily="34" charset="-120"/>
              </a:rPr>
              <a:t>Initial Exploration</a:t>
            </a:r>
            <a:endParaRPr lang="en-US" sz="1800" dirty="0"/>
          </a:p>
        </p:txBody>
      </p:sp>
      <p:sp>
        <p:nvSpPr>
          <p:cNvPr id="12" name="Text 10"/>
          <p:cNvSpPr txBox="1"/>
          <p:nvPr/>
        </p:nvSpPr>
        <p:spPr>
          <a:xfrm>
            <a:off x="3086100" y="3703320"/>
            <a:ext cx="1554480" cy="1280160"/>
          </a:xfrm>
          <a:prstGeom prst="rect">
            <a:avLst/>
          </a:prstGeom>
          <a:noFill/>
          <a:ln/>
        </p:spPr>
        <p:txBody>
          <a:bodyPr wrap="square" lIns="0" tIns="0" rIns="0" bIns="0" rtlCol="0" anchor="t"/>
          <a:lstStyle/>
          <a:p>
            <a:pPr marL="0" indent="0">
              <a:buNone/>
            </a:pPr>
            <a:r>
              <a:rPr lang="en-US" sz="1600" dirty="0">
                <a:solidFill>
                  <a:schemeClr val="accent4"/>
                </a:solidFill>
                <a:latin typeface="Calibri" pitchFamily="34" charset="0"/>
                <a:ea typeface="Calibri" pitchFamily="34" charset="-122"/>
                <a:cs typeface="Calibri" pitchFamily="34" charset="-120"/>
              </a:rPr>
              <a:t>Checked structure and summary statistics</a:t>
            </a:r>
            <a:endParaRPr lang="en-US" sz="1600" dirty="0"/>
          </a:p>
        </p:txBody>
      </p:sp>
      <p:sp>
        <p:nvSpPr>
          <p:cNvPr id="13" name="Step card 03"/>
          <p:cNvSpPr/>
          <p:nvPr/>
        </p:nvSpPr>
        <p:spPr>
          <a:xfrm>
            <a:off x="5074920" y="1645920"/>
            <a:ext cx="2011680" cy="3474720"/>
          </a:xfrm>
          <a:prstGeom prst="roundRect">
            <a:avLst>
              <a:gd name="adj" fmla="val 5455"/>
            </a:avLst>
          </a:prstGeom>
          <a:solidFill>
            <a:schemeClr val="bg2"/>
          </a:solidFill>
          <a:ln/>
        </p:spPr>
        <p:txBody>
          <a:bodyPr/>
          <a:lstStyle/>
          <a:p>
            <a:endParaRPr lang="en-IN"/>
          </a:p>
        </p:txBody>
      </p:sp>
      <p:sp>
        <p:nvSpPr>
          <p:cNvPr id="14" name="Step number circle 03"/>
          <p:cNvSpPr/>
          <p:nvPr/>
        </p:nvSpPr>
        <p:spPr>
          <a:xfrm>
            <a:off x="5349240" y="1965960"/>
            <a:ext cx="731520" cy="731520"/>
          </a:xfrm>
          <a:prstGeom prst="ellipse">
            <a:avLst/>
          </a:prstGeom>
          <a:solidFill>
            <a:schemeClr val="accent1"/>
          </a:solidFill>
          <a:ln/>
        </p:spPr>
        <p:txBody>
          <a:bodyPr/>
          <a:lstStyle/>
          <a:p>
            <a:endParaRPr lang="en-IN"/>
          </a:p>
        </p:txBody>
      </p:sp>
      <p:sp>
        <p:nvSpPr>
          <p:cNvPr id="15" name="Text 13"/>
          <p:cNvSpPr txBox="1"/>
          <p:nvPr/>
        </p:nvSpPr>
        <p:spPr>
          <a:xfrm>
            <a:off x="5349240" y="1965960"/>
            <a:ext cx="731520" cy="73152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03</a:t>
            </a:r>
            <a:endParaRPr lang="en-US" sz="2000" dirty="0"/>
          </a:p>
        </p:txBody>
      </p:sp>
      <p:sp>
        <p:nvSpPr>
          <p:cNvPr id="16" name="Text 14"/>
          <p:cNvSpPr txBox="1"/>
          <p:nvPr/>
        </p:nvSpPr>
        <p:spPr>
          <a:xfrm>
            <a:off x="5349240" y="2926080"/>
            <a:ext cx="1554480" cy="731520"/>
          </a:xfrm>
          <a:prstGeom prst="rect">
            <a:avLst/>
          </a:prstGeom>
          <a:noFill/>
          <a:ln/>
        </p:spPr>
        <p:txBody>
          <a:bodyPr wrap="square" lIns="0" tIns="0" rIns="0" bIns="0" rtlCol="0" anchor="t"/>
          <a:lstStyle/>
          <a:p>
            <a:pPr marL="0" indent="0">
              <a:buNone/>
            </a:pPr>
            <a:r>
              <a:rPr lang="en-US" sz="1800" b="1" dirty="0">
                <a:solidFill>
                  <a:schemeClr val="tx1"/>
                </a:solidFill>
                <a:latin typeface="Calibri" pitchFamily="34" charset="0"/>
                <a:ea typeface="Calibri" pitchFamily="34" charset="-122"/>
                <a:cs typeface="Calibri" pitchFamily="34" charset="-120"/>
              </a:rPr>
              <a:t>Missing Data</a:t>
            </a:r>
            <a:endParaRPr lang="en-US" sz="1800" dirty="0"/>
          </a:p>
        </p:txBody>
      </p:sp>
      <p:sp>
        <p:nvSpPr>
          <p:cNvPr id="17" name="Text 15"/>
          <p:cNvSpPr txBox="1"/>
          <p:nvPr/>
        </p:nvSpPr>
        <p:spPr>
          <a:xfrm>
            <a:off x="5349240" y="3703320"/>
            <a:ext cx="1554480" cy="1280160"/>
          </a:xfrm>
          <a:prstGeom prst="rect">
            <a:avLst/>
          </a:prstGeom>
          <a:noFill/>
          <a:ln/>
        </p:spPr>
        <p:txBody>
          <a:bodyPr wrap="square" lIns="0" tIns="0" rIns="0" bIns="0" rtlCol="0" anchor="t"/>
          <a:lstStyle/>
          <a:p>
            <a:pPr marL="0" indent="0">
              <a:buNone/>
            </a:pPr>
            <a:r>
              <a:rPr lang="en-US" sz="1600" dirty="0">
                <a:solidFill>
                  <a:schemeClr val="accent4"/>
                </a:solidFill>
                <a:latin typeface="Calibri" pitchFamily="34" charset="0"/>
                <a:ea typeface="Calibri" pitchFamily="34" charset="-122"/>
                <a:cs typeface="Calibri" pitchFamily="34" charset="-120"/>
              </a:rPr>
              <a:t>Filled 37 missing ratings with each category's median</a:t>
            </a:r>
            <a:endParaRPr lang="en-US" sz="1600" dirty="0"/>
          </a:p>
        </p:txBody>
      </p:sp>
      <p:sp>
        <p:nvSpPr>
          <p:cNvPr id="18" name="Step card 04"/>
          <p:cNvSpPr/>
          <p:nvPr/>
        </p:nvSpPr>
        <p:spPr>
          <a:xfrm>
            <a:off x="7338060" y="1645920"/>
            <a:ext cx="2011680" cy="3474720"/>
          </a:xfrm>
          <a:prstGeom prst="roundRect">
            <a:avLst>
              <a:gd name="adj" fmla="val 5455"/>
            </a:avLst>
          </a:prstGeom>
          <a:solidFill>
            <a:schemeClr val="bg2"/>
          </a:solidFill>
          <a:ln/>
        </p:spPr>
        <p:txBody>
          <a:bodyPr/>
          <a:lstStyle/>
          <a:p>
            <a:endParaRPr lang="en-IN"/>
          </a:p>
        </p:txBody>
      </p:sp>
      <p:sp>
        <p:nvSpPr>
          <p:cNvPr id="19" name="Step number circle 04"/>
          <p:cNvSpPr/>
          <p:nvPr/>
        </p:nvSpPr>
        <p:spPr>
          <a:xfrm>
            <a:off x="7612380" y="1965960"/>
            <a:ext cx="731520" cy="731520"/>
          </a:xfrm>
          <a:prstGeom prst="ellipse">
            <a:avLst/>
          </a:prstGeom>
          <a:solidFill>
            <a:schemeClr val="accent1"/>
          </a:solidFill>
          <a:ln/>
        </p:spPr>
        <p:txBody>
          <a:bodyPr/>
          <a:lstStyle/>
          <a:p>
            <a:endParaRPr lang="en-IN"/>
          </a:p>
        </p:txBody>
      </p:sp>
      <p:sp>
        <p:nvSpPr>
          <p:cNvPr id="20" name="Text 18"/>
          <p:cNvSpPr txBox="1"/>
          <p:nvPr/>
        </p:nvSpPr>
        <p:spPr>
          <a:xfrm>
            <a:off x="7612380" y="1965960"/>
            <a:ext cx="731520" cy="73152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04</a:t>
            </a:r>
            <a:endParaRPr lang="en-US" sz="2000" dirty="0"/>
          </a:p>
        </p:txBody>
      </p:sp>
      <p:sp>
        <p:nvSpPr>
          <p:cNvPr id="21" name="Text 19"/>
          <p:cNvSpPr txBox="1"/>
          <p:nvPr/>
        </p:nvSpPr>
        <p:spPr>
          <a:xfrm>
            <a:off x="7612380" y="2926080"/>
            <a:ext cx="1554480" cy="731520"/>
          </a:xfrm>
          <a:prstGeom prst="rect">
            <a:avLst/>
          </a:prstGeom>
          <a:noFill/>
          <a:ln/>
        </p:spPr>
        <p:txBody>
          <a:bodyPr wrap="square" lIns="0" tIns="0" rIns="0" bIns="0" rtlCol="0" anchor="t"/>
          <a:lstStyle/>
          <a:p>
            <a:pPr marL="0" indent="0">
              <a:buNone/>
            </a:pPr>
            <a:r>
              <a:rPr lang="en-US" sz="1800" b="1" dirty="0">
                <a:solidFill>
                  <a:schemeClr val="tx1"/>
                </a:solidFill>
                <a:latin typeface="Calibri" pitchFamily="34" charset="0"/>
                <a:ea typeface="Calibri" pitchFamily="34" charset="-122"/>
                <a:cs typeface="Calibri" pitchFamily="34" charset="-120"/>
              </a:rPr>
              <a:t>Feature Engineering</a:t>
            </a:r>
            <a:endParaRPr lang="en-US" sz="1800" dirty="0"/>
          </a:p>
        </p:txBody>
      </p:sp>
      <p:sp>
        <p:nvSpPr>
          <p:cNvPr id="22" name="Text 20"/>
          <p:cNvSpPr txBox="1"/>
          <p:nvPr/>
        </p:nvSpPr>
        <p:spPr>
          <a:xfrm>
            <a:off x="7612380" y="3703320"/>
            <a:ext cx="1554480" cy="1280160"/>
          </a:xfrm>
          <a:prstGeom prst="rect">
            <a:avLst/>
          </a:prstGeom>
          <a:noFill/>
          <a:ln/>
        </p:spPr>
        <p:txBody>
          <a:bodyPr wrap="square" lIns="0" tIns="0" rIns="0" bIns="0" rtlCol="0" anchor="t"/>
          <a:lstStyle/>
          <a:p>
            <a:pPr marL="0" indent="0">
              <a:buNone/>
            </a:pPr>
            <a:r>
              <a:rPr lang="en-US" sz="1600" dirty="0">
                <a:solidFill>
                  <a:schemeClr val="accent4"/>
                </a:solidFill>
                <a:latin typeface="Calibri" pitchFamily="34" charset="0"/>
                <a:ea typeface="Calibri" pitchFamily="34" charset="-122"/>
                <a:cs typeface="Calibri" pitchFamily="34" charset="-120"/>
              </a:rPr>
              <a:t>Created age groups and purchase frequency in days</a:t>
            </a:r>
            <a:endParaRPr lang="en-US" sz="1600" dirty="0"/>
          </a:p>
        </p:txBody>
      </p:sp>
      <p:sp>
        <p:nvSpPr>
          <p:cNvPr id="23" name="Step card 05"/>
          <p:cNvSpPr/>
          <p:nvPr/>
        </p:nvSpPr>
        <p:spPr>
          <a:xfrm>
            <a:off x="9601200" y="1645920"/>
            <a:ext cx="2011680" cy="3474720"/>
          </a:xfrm>
          <a:prstGeom prst="roundRect">
            <a:avLst>
              <a:gd name="adj" fmla="val 5455"/>
            </a:avLst>
          </a:prstGeom>
          <a:solidFill>
            <a:schemeClr val="bg2"/>
          </a:solidFill>
          <a:ln/>
        </p:spPr>
        <p:txBody>
          <a:bodyPr/>
          <a:lstStyle/>
          <a:p>
            <a:endParaRPr lang="en-IN"/>
          </a:p>
        </p:txBody>
      </p:sp>
      <p:sp>
        <p:nvSpPr>
          <p:cNvPr id="24" name="Step number circle 05"/>
          <p:cNvSpPr/>
          <p:nvPr/>
        </p:nvSpPr>
        <p:spPr>
          <a:xfrm>
            <a:off x="9875520" y="1965960"/>
            <a:ext cx="731520" cy="731520"/>
          </a:xfrm>
          <a:prstGeom prst="ellipse">
            <a:avLst/>
          </a:prstGeom>
          <a:solidFill>
            <a:schemeClr val="accent1"/>
          </a:solidFill>
          <a:ln/>
        </p:spPr>
        <p:txBody>
          <a:bodyPr/>
          <a:lstStyle/>
          <a:p>
            <a:endParaRPr lang="en-IN"/>
          </a:p>
        </p:txBody>
      </p:sp>
      <p:sp>
        <p:nvSpPr>
          <p:cNvPr id="25" name="Text 23"/>
          <p:cNvSpPr txBox="1"/>
          <p:nvPr/>
        </p:nvSpPr>
        <p:spPr>
          <a:xfrm>
            <a:off x="9875520" y="1965960"/>
            <a:ext cx="731520" cy="73152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05</a:t>
            </a:r>
            <a:endParaRPr lang="en-US" sz="2000" dirty="0"/>
          </a:p>
        </p:txBody>
      </p:sp>
      <p:sp>
        <p:nvSpPr>
          <p:cNvPr id="26" name="Text 24"/>
          <p:cNvSpPr txBox="1"/>
          <p:nvPr/>
        </p:nvSpPr>
        <p:spPr>
          <a:xfrm>
            <a:off x="9875520" y="2926080"/>
            <a:ext cx="1554480" cy="731520"/>
          </a:xfrm>
          <a:prstGeom prst="rect">
            <a:avLst/>
          </a:prstGeom>
          <a:noFill/>
          <a:ln/>
        </p:spPr>
        <p:txBody>
          <a:bodyPr wrap="square" lIns="0" tIns="0" rIns="0" bIns="0" rtlCol="0" anchor="t"/>
          <a:lstStyle/>
          <a:p>
            <a:pPr marL="0" indent="0">
              <a:buNone/>
            </a:pPr>
            <a:r>
              <a:rPr lang="en-US" sz="1800" b="1" dirty="0">
                <a:solidFill>
                  <a:schemeClr val="tx1"/>
                </a:solidFill>
                <a:latin typeface="Calibri" pitchFamily="34" charset="0"/>
                <a:ea typeface="Calibri" pitchFamily="34" charset="-122"/>
                <a:cs typeface="Calibri" pitchFamily="34" charset="-120"/>
              </a:rPr>
              <a:t>Database Integration</a:t>
            </a:r>
            <a:endParaRPr lang="en-US" sz="1800" dirty="0"/>
          </a:p>
        </p:txBody>
      </p:sp>
      <p:sp>
        <p:nvSpPr>
          <p:cNvPr id="27" name="Text 25"/>
          <p:cNvSpPr txBox="1"/>
          <p:nvPr/>
        </p:nvSpPr>
        <p:spPr>
          <a:xfrm>
            <a:off x="9875520" y="3703320"/>
            <a:ext cx="1554480" cy="1280160"/>
          </a:xfrm>
          <a:prstGeom prst="rect">
            <a:avLst/>
          </a:prstGeom>
          <a:noFill/>
          <a:ln/>
        </p:spPr>
        <p:txBody>
          <a:bodyPr wrap="square" lIns="0" tIns="0" rIns="0" bIns="0" rtlCol="0" anchor="t"/>
          <a:lstStyle/>
          <a:p>
            <a:pPr marL="0" indent="0">
              <a:buNone/>
            </a:pPr>
            <a:r>
              <a:rPr lang="en-US" sz="1600" dirty="0">
                <a:solidFill>
                  <a:schemeClr val="accent4"/>
                </a:solidFill>
                <a:latin typeface="Calibri" pitchFamily="34" charset="0"/>
                <a:ea typeface="Calibri" pitchFamily="34" charset="-122"/>
                <a:cs typeface="Calibri" pitchFamily="34" charset="-120"/>
              </a:rPr>
              <a:t>Loaded the cleaned data into MySQL for SQL analysis</a:t>
            </a:r>
            <a:endParaRPr lang="en-US" sz="1600" dirty="0"/>
          </a:p>
        </p:txBody>
      </p:sp>
      <p:sp>
        <p:nvSpPr>
          <p:cNvPr id="28" name="Consistency note"/>
          <p:cNvSpPr/>
          <p:nvPr/>
        </p:nvSpPr>
        <p:spPr>
          <a:xfrm>
            <a:off x="548640" y="5394960"/>
            <a:ext cx="11064240" cy="685800"/>
          </a:xfrm>
          <a:prstGeom prst="roundRect">
            <a:avLst>
              <a:gd name="adj" fmla="val 16000"/>
            </a:avLst>
          </a:prstGeom>
          <a:solidFill>
            <a:schemeClr val="bg2"/>
          </a:solidFill>
          <a:ln/>
        </p:spPr>
        <p:txBody>
          <a:bodyPr/>
          <a:lstStyle/>
          <a:p>
            <a:endParaRPr lang="en-IN"/>
          </a:p>
        </p:txBody>
      </p:sp>
      <p:sp>
        <p:nvSpPr>
          <p:cNvPr id="29" name="Text 27"/>
          <p:cNvSpPr txBox="1"/>
          <p:nvPr/>
        </p:nvSpPr>
        <p:spPr>
          <a:xfrm>
            <a:off x="822960" y="5394960"/>
            <a:ext cx="10515600" cy="68580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Data check: promo_code_used was identical to discount_applied in all 3,900 rows, so the redundant column was dropped.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a:ln/>
        </p:spPr>
        <p:txBody>
          <a:bodyPr wrap="square" lIns="0" tIns="0" rIns="0" bIns="0" rtlCol="0" anchor="ctr"/>
          <a:lstStyle/>
          <a:p>
            <a:pPr marL="0" indent="0" algn="l">
              <a:buNone/>
            </a:pPr>
            <a:r>
              <a:rPr lang="en-US" sz="3600" b="1" dirty="0">
                <a:solidFill>
                  <a:schemeClr val="tx1"/>
                </a:solidFill>
              </a:rPr>
              <a:t>Revenue by Gender</a:t>
            </a:r>
            <a:endParaRPr lang="en-US" sz="3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a:t>
            </a:fld>
            <a:endParaRPr lang="en-US"/>
          </a:p>
        </p:txBody>
      </p:sp>
      <p:graphicFrame>
        <p:nvGraphicFramePr>
          <p:cNvPr id="3" name="Chart 0"/>
          <p:cNvGraphicFramePr/>
          <p:nvPr/>
        </p:nvGraphicFramePr>
        <p:xfrm>
          <a:off x="548640" y="1463040"/>
          <a:ext cx="53035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4" name="Insight card"/>
          <p:cNvSpPr/>
          <p:nvPr/>
        </p:nvSpPr>
        <p:spPr>
          <a:xfrm>
            <a:off x="6400800" y="1645920"/>
            <a:ext cx="5212080" cy="4297680"/>
          </a:xfrm>
          <a:prstGeom prst="roundRect">
            <a:avLst>
              <a:gd name="adj" fmla="val 2553"/>
            </a:avLst>
          </a:prstGeom>
          <a:solidFill>
            <a:schemeClr val="bg2"/>
          </a:solidFill>
          <a:ln/>
        </p:spPr>
        <p:txBody>
          <a:bodyPr/>
          <a:lstStyle/>
          <a:p>
            <a:endParaRPr lang="en-IN"/>
          </a:p>
        </p:txBody>
      </p:sp>
      <p:sp>
        <p:nvSpPr>
          <p:cNvPr id="5" name="Text 2"/>
          <p:cNvSpPr txBox="1"/>
          <p:nvPr/>
        </p:nvSpPr>
        <p:spPr>
          <a:xfrm>
            <a:off x="6766560" y="1920240"/>
            <a:ext cx="4572000" cy="274320"/>
          </a:xfrm>
          <a:prstGeom prst="rect">
            <a:avLst/>
          </a:prstGeom>
          <a:noFill/>
          <a:ln/>
        </p:spPr>
        <p:txBody>
          <a:bodyPr wrap="square" lIns="0" tIns="0" rIns="0" bIns="0" rtlCol="0" anchor="ctr"/>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KEY INSIGHT</a:t>
            </a:r>
            <a:endParaRPr lang="en-US" sz="1200" dirty="0"/>
          </a:p>
        </p:txBody>
      </p:sp>
      <p:sp>
        <p:nvSpPr>
          <p:cNvPr id="6" name="Text 3"/>
          <p:cNvSpPr txBox="1"/>
          <p:nvPr/>
        </p:nvSpPr>
        <p:spPr>
          <a:xfrm>
            <a:off x="6766560" y="2240280"/>
            <a:ext cx="4572000" cy="914400"/>
          </a:xfrm>
          <a:prstGeom prst="rect">
            <a:avLst/>
          </a:prstGeom>
          <a:noFill/>
          <a:ln/>
        </p:spPr>
        <p:txBody>
          <a:bodyPr wrap="square" lIns="0" tIns="0" rIns="0" bIns="0" rtlCol="0" anchor="ctr"/>
          <a:lstStyle/>
          <a:p>
            <a:pPr marL="0" indent="0">
              <a:buNone/>
            </a:pPr>
            <a:r>
              <a:rPr lang="en-US" sz="6000" b="1" dirty="0">
                <a:solidFill>
                  <a:schemeClr val="tx1"/>
                </a:solidFill>
                <a:latin typeface="Cambria" pitchFamily="34" charset="0"/>
                <a:ea typeface="Cambria" pitchFamily="34" charset="-122"/>
                <a:cs typeface="Cambria" pitchFamily="34" charset="-120"/>
              </a:rPr>
              <a:t>67.7%</a:t>
            </a:r>
            <a:endParaRPr lang="en-US" sz="6000" dirty="0"/>
          </a:p>
        </p:txBody>
      </p:sp>
      <p:sp>
        <p:nvSpPr>
          <p:cNvPr id="7" name="Text 4"/>
          <p:cNvSpPr txBox="1"/>
          <p:nvPr/>
        </p:nvSpPr>
        <p:spPr>
          <a:xfrm>
            <a:off x="6766560" y="3200400"/>
            <a:ext cx="4480560" cy="73152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of revenue comes from male customers ($157,890 vs. $75,191)</a:t>
            </a:r>
            <a:endParaRPr lang="en-US" sz="1600" dirty="0"/>
          </a:p>
        </p:txBody>
      </p:sp>
      <p:sp>
        <p:nvSpPr>
          <p:cNvPr id="8" name="Text 5"/>
          <p:cNvSpPr txBox="1"/>
          <p:nvPr/>
        </p:nvSpPr>
        <p:spPr>
          <a:xfrm>
            <a:off x="6766560" y="4114800"/>
            <a:ext cx="4480560" cy="109728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The gap is about volume, not spending. </a:t>
            </a:r>
            <a:r>
              <a:rPr lang="en-US" sz="1400" dirty="0">
                <a:solidFill>
                  <a:schemeClr val="tx1"/>
                </a:solidFill>
                <a:latin typeface="Calibri" pitchFamily="34" charset="0"/>
                <a:ea typeface="Calibri" pitchFamily="34" charset="-122"/>
                <a:cs typeface="Calibri" pitchFamily="34" charset="-120"/>
              </a:rPr>
              <a:t>Men are 68.0% of customers, and average spend is nearly equal: Female $60.25 vs. Male $59.54.</a:t>
            </a:r>
            <a:endParaRPr lang="en-US" sz="1400" dirty="0"/>
          </a:p>
        </p:txBody>
      </p:sp>
      <p:sp>
        <p:nvSpPr>
          <p:cNvPr id="9" name="Text 6"/>
          <p:cNvSpPr txBox="1"/>
          <p:nvPr/>
        </p:nvSpPr>
        <p:spPr>
          <a:xfrm>
            <a:off x="6766560" y="5257800"/>
            <a:ext cx="4480560" cy="548640"/>
          </a:xfrm>
          <a:prstGeom prst="rect">
            <a:avLst/>
          </a:prstGeom>
          <a:noFill/>
          <a:ln/>
        </p:spPr>
        <p:txBody>
          <a:bodyPr wrap="square" lIns="0" tIns="0" rIns="0" bIns="0" rtlCol="0" anchor="t"/>
          <a:lstStyle/>
          <a:p>
            <a:pPr marL="0" indent="0">
              <a:buNone/>
            </a:pPr>
            <a:r>
              <a:rPr lang="en-US" sz="1400" b="1" dirty="0">
                <a:solidFill>
                  <a:schemeClr val="accent2"/>
                </a:solidFill>
                <a:latin typeface="Calibri" pitchFamily="34" charset="0"/>
                <a:ea typeface="Calibri" pitchFamily="34" charset="-122"/>
                <a:cs typeface="Calibri" pitchFamily="34" charset="-120"/>
              </a:rPr>
              <a:t>Opportunity: grow the female customer base (32% of customers).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a:ln/>
        </p:spPr>
        <p:txBody>
          <a:bodyPr wrap="square" lIns="0" tIns="0" rIns="0" bIns="0" rtlCol="0" anchor="ctr"/>
          <a:lstStyle/>
          <a:p>
            <a:pPr marL="0" indent="0" algn="l">
              <a:buNone/>
            </a:pPr>
            <a:r>
              <a:rPr lang="en-US" sz="3600" b="1" dirty="0">
                <a:solidFill>
                  <a:schemeClr val="tx1"/>
                </a:solidFill>
              </a:rPr>
              <a:t>High-Value Discount Users</a:t>
            </a:r>
            <a:endParaRPr lang="en-US" sz="3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a:t>
            </a:fld>
            <a:endParaRPr lang="en-US"/>
          </a:p>
        </p:txBody>
      </p:sp>
      <p:sp>
        <p:nvSpPr>
          <p:cNvPr id="3" name="Text 1"/>
          <p:cNvSpPr txBox="1"/>
          <p:nvPr/>
        </p:nvSpPr>
        <p:spPr>
          <a:xfrm>
            <a:off x="548640" y="1325880"/>
            <a:ext cx="11064240" cy="457200"/>
          </a:xfrm>
          <a:prstGeom prst="rect">
            <a:avLst/>
          </a:prstGeom>
          <a:noFill/>
          <a:ln/>
        </p:spPr>
        <p:txBody>
          <a:bodyPr wrap="square" lIns="0" tIns="0" rIns="0" bIns="0" rtlCol="0" anchor="ctr"/>
          <a:lstStyle/>
          <a:p>
            <a:pPr marL="0" indent="0">
              <a:buNone/>
            </a:pPr>
            <a:r>
              <a:rPr lang="en-US" sz="1800" dirty="0">
                <a:solidFill>
                  <a:schemeClr val="accent4"/>
                </a:solidFill>
                <a:latin typeface="Calibri" pitchFamily="34" charset="0"/>
                <a:ea typeface="Calibri" pitchFamily="34" charset="-122"/>
                <a:cs typeface="Calibri" pitchFamily="34" charset="-120"/>
              </a:rPr>
              <a:t>Customers who used a discount but still spent at or above the $59.76 average purchase</a:t>
            </a:r>
            <a:endParaRPr lang="en-US" sz="1800" dirty="0"/>
          </a:p>
        </p:txBody>
      </p:sp>
      <p:sp>
        <p:nvSpPr>
          <p:cNvPr id="4" name="Discount stat 1"/>
          <p:cNvSpPr/>
          <p:nvPr/>
        </p:nvSpPr>
        <p:spPr>
          <a:xfrm>
            <a:off x="548640" y="2011680"/>
            <a:ext cx="3566160" cy="3017520"/>
          </a:xfrm>
          <a:prstGeom prst="roundRect">
            <a:avLst>
              <a:gd name="adj" fmla="val 3636"/>
            </a:avLst>
          </a:prstGeom>
          <a:solidFill>
            <a:schemeClr val="bg2"/>
          </a:solidFill>
          <a:ln/>
        </p:spPr>
        <p:txBody>
          <a:bodyPr/>
          <a:lstStyle/>
          <a:p>
            <a:endParaRPr lang="en-IN"/>
          </a:p>
        </p:txBody>
      </p:sp>
      <p:sp>
        <p:nvSpPr>
          <p:cNvPr id="5" name="Discount icon 1 circle"/>
          <p:cNvSpPr/>
          <p:nvPr/>
        </p:nvSpPr>
        <p:spPr>
          <a:xfrm>
            <a:off x="868680" y="2331720"/>
            <a:ext cx="640080" cy="640080"/>
          </a:xfrm>
          <a:prstGeom prst="ellipse">
            <a:avLst/>
          </a:prstGeom>
          <a:solidFill>
            <a:schemeClr val="accent1"/>
          </a:solidFill>
          <a:ln/>
        </p:spPr>
        <p:txBody>
          <a:bodyPr/>
          <a:lstStyle/>
          <a:p>
            <a:endParaRPr lang="en-IN"/>
          </a:p>
        </p:txBody>
      </p:sp>
      <p:pic>
        <p:nvPicPr>
          <p:cNvPr id="6" name="Image 0" descr="Discount icon 1"/>
          <p:cNvPicPr>
            <a:picLocks noChangeAspect="1"/>
          </p:cNvPicPr>
          <p:nvPr/>
        </p:nvPicPr>
        <p:blipFill>
          <a:blip r:embed="rId3"/>
          <a:stretch>
            <a:fillRect/>
          </a:stretch>
        </p:blipFill>
        <p:spPr>
          <a:xfrm>
            <a:off x="1035101" y="2498141"/>
            <a:ext cx="307238" cy="307238"/>
          </a:xfrm>
          <a:prstGeom prst="rect">
            <a:avLst/>
          </a:prstGeom>
        </p:spPr>
      </p:pic>
      <p:sp>
        <p:nvSpPr>
          <p:cNvPr id="7" name="Text 4"/>
          <p:cNvSpPr txBox="1"/>
          <p:nvPr/>
        </p:nvSpPr>
        <p:spPr>
          <a:xfrm>
            <a:off x="868680" y="3108960"/>
            <a:ext cx="2926080" cy="822960"/>
          </a:xfrm>
          <a:prstGeom prst="rect">
            <a:avLst/>
          </a:prstGeom>
          <a:noFill/>
          <a:ln/>
        </p:spPr>
        <p:txBody>
          <a:bodyPr wrap="square" lIns="0" tIns="0" rIns="0" bIns="0" rtlCol="0" anchor="ctr"/>
          <a:lstStyle/>
          <a:p>
            <a:pPr marL="0" indent="0">
              <a:buNone/>
            </a:pPr>
            <a:r>
              <a:rPr lang="en-US" sz="4800" b="1" dirty="0">
                <a:solidFill>
                  <a:schemeClr val="tx1"/>
                </a:solidFill>
                <a:latin typeface="Cambria" pitchFamily="34" charset="0"/>
                <a:ea typeface="Cambria" pitchFamily="34" charset="-122"/>
                <a:cs typeface="Cambria" pitchFamily="34" charset="-120"/>
              </a:rPr>
              <a:t>839</a:t>
            </a:r>
            <a:endParaRPr lang="en-US" sz="4800" dirty="0"/>
          </a:p>
        </p:txBody>
      </p:sp>
      <p:sp>
        <p:nvSpPr>
          <p:cNvPr id="8" name="Text 5"/>
          <p:cNvSpPr txBox="1"/>
          <p:nvPr/>
        </p:nvSpPr>
        <p:spPr>
          <a:xfrm>
            <a:off x="868680" y="3931920"/>
            <a:ext cx="2926080" cy="36576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customers</a:t>
            </a:r>
            <a:endParaRPr lang="en-US" sz="1800" dirty="0"/>
          </a:p>
        </p:txBody>
      </p:sp>
      <p:sp>
        <p:nvSpPr>
          <p:cNvPr id="9" name="Text 6"/>
          <p:cNvSpPr txBox="1"/>
          <p:nvPr/>
        </p:nvSpPr>
        <p:spPr>
          <a:xfrm>
            <a:off x="868680" y="4297680"/>
            <a:ext cx="2926080" cy="640080"/>
          </a:xfrm>
          <a:prstGeom prst="rect">
            <a:avLst/>
          </a:prstGeom>
          <a:noFill/>
          <a:ln/>
        </p:spPr>
        <p:txBody>
          <a:bodyPr wrap="square" lIns="0" tIns="0" rIns="0" bIns="0" rtlCol="0" anchor="t"/>
          <a:lstStyle/>
          <a:p>
            <a:pPr marL="0" indent="0">
              <a:buNone/>
            </a:pPr>
            <a:r>
              <a:rPr lang="en-US" sz="1400" dirty="0">
                <a:solidFill>
                  <a:schemeClr val="accent4"/>
                </a:solidFill>
                <a:latin typeface="Calibri" pitchFamily="34" charset="0"/>
                <a:ea typeface="Calibri" pitchFamily="34" charset="-122"/>
                <a:cs typeface="Calibri" pitchFamily="34" charset="-120"/>
              </a:rPr>
              <a:t>used a discount and still spent at or above average</a:t>
            </a:r>
            <a:endParaRPr lang="en-US" sz="1400" dirty="0"/>
          </a:p>
        </p:txBody>
      </p:sp>
      <p:sp>
        <p:nvSpPr>
          <p:cNvPr id="10" name="Discount stat 2"/>
          <p:cNvSpPr/>
          <p:nvPr/>
        </p:nvSpPr>
        <p:spPr>
          <a:xfrm>
            <a:off x="4297680" y="2011680"/>
            <a:ext cx="3566160" cy="3017520"/>
          </a:xfrm>
          <a:prstGeom prst="roundRect">
            <a:avLst>
              <a:gd name="adj" fmla="val 3636"/>
            </a:avLst>
          </a:prstGeom>
          <a:solidFill>
            <a:schemeClr val="bg2"/>
          </a:solidFill>
          <a:ln/>
        </p:spPr>
        <p:txBody>
          <a:bodyPr/>
          <a:lstStyle/>
          <a:p>
            <a:endParaRPr lang="en-IN"/>
          </a:p>
        </p:txBody>
      </p:sp>
      <p:sp>
        <p:nvSpPr>
          <p:cNvPr id="11" name="Discount icon 2 circle"/>
          <p:cNvSpPr/>
          <p:nvPr/>
        </p:nvSpPr>
        <p:spPr>
          <a:xfrm>
            <a:off x="4617720" y="2331720"/>
            <a:ext cx="640080" cy="640080"/>
          </a:xfrm>
          <a:prstGeom prst="ellipse">
            <a:avLst/>
          </a:prstGeom>
          <a:solidFill>
            <a:schemeClr val="accent1"/>
          </a:solidFill>
          <a:ln/>
        </p:spPr>
        <p:txBody>
          <a:bodyPr/>
          <a:lstStyle/>
          <a:p>
            <a:endParaRPr lang="en-IN"/>
          </a:p>
        </p:txBody>
      </p:sp>
      <p:pic>
        <p:nvPicPr>
          <p:cNvPr id="12" name="Image 1" descr="Discount icon 2"/>
          <p:cNvPicPr>
            <a:picLocks noChangeAspect="1"/>
          </p:cNvPicPr>
          <p:nvPr/>
        </p:nvPicPr>
        <p:blipFill>
          <a:blip r:embed="rId4"/>
          <a:stretch>
            <a:fillRect/>
          </a:stretch>
        </p:blipFill>
        <p:spPr>
          <a:xfrm>
            <a:off x="4784141" y="2498141"/>
            <a:ext cx="307238" cy="307238"/>
          </a:xfrm>
          <a:prstGeom prst="rect">
            <a:avLst/>
          </a:prstGeom>
        </p:spPr>
      </p:pic>
      <p:sp>
        <p:nvSpPr>
          <p:cNvPr id="13" name="Text 9"/>
          <p:cNvSpPr txBox="1"/>
          <p:nvPr/>
        </p:nvSpPr>
        <p:spPr>
          <a:xfrm>
            <a:off x="4617720" y="3108960"/>
            <a:ext cx="2926080" cy="822960"/>
          </a:xfrm>
          <a:prstGeom prst="rect">
            <a:avLst/>
          </a:prstGeom>
          <a:noFill/>
          <a:ln/>
        </p:spPr>
        <p:txBody>
          <a:bodyPr wrap="square" lIns="0" tIns="0" rIns="0" bIns="0" rtlCol="0" anchor="ctr"/>
          <a:lstStyle/>
          <a:p>
            <a:pPr marL="0" indent="0">
              <a:buNone/>
            </a:pPr>
            <a:r>
              <a:rPr lang="en-US" sz="4800" b="1" dirty="0">
                <a:solidFill>
                  <a:schemeClr val="tx1"/>
                </a:solidFill>
                <a:latin typeface="Cambria" pitchFamily="34" charset="0"/>
                <a:ea typeface="Cambria" pitchFamily="34" charset="-122"/>
                <a:cs typeface="Cambria" pitchFamily="34" charset="-120"/>
              </a:rPr>
              <a:t>50.0%</a:t>
            </a:r>
            <a:endParaRPr lang="en-US" sz="4800" dirty="0"/>
          </a:p>
        </p:txBody>
      </p:sp>
      <p:sp>
        <p:nvSpPr>
          <p:cNvPr id="14" name="Text 10"/>
          <p:cNvSpPr txBox="1"/>
          <p:nvPr/>
        </p:nvSpPr>
        <p:spPr>
          <a:xfrm>
            <a:off x="4617720" y="3931920"/>
            <a:ext cx="2926080" cy="36576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of discounted purchases</a:t>
            </a:r>
            <a:endParaRPr lang="en-US" sz="1800" dirty="0"/>
          </a:p>
        </p:txBody>
      </p:sp>
      <p:sp>
        <p:nvSpPr>
          <p:cNvPr id="15" name="Text 11"/>
          <p:cNvSpPr txBox="1"/>
          <p:nvPr/>
        </p:nvSpPr>
        <p:spPr>
          <a:xfrm>
            <a:off x="4617720" y="4297680"/>
            <a:ext cx="2926080" cy="640080"/>
          </a:xfrm>
          <a:prstGeom prst="rect">
            <a:avLst/>
          </a:prstGeom>
          <a:noFill/>
          <a:ln/>
        </p:spPr>
        <p:txBody>
          <a:bodyPr wrap="square" lIns="0" tIns="0" rIns="0" bIns="0" rtlCol="0" anchor="t"/>
          <a:lstStyle/>
          <a:p>
            <a:pPr marL="0" indent="0">
              <a:buNone/>
            </a:pPr>
            <a:r>
              <a:rPr lang="en-US" sz="1400" dirty="0">
                <a:solidFill>
                  <a:schemeClr val="accent4"/>
                </a:solidFill>
                <a:latin typeface="Calibri" pitchFamily="34" charset="0"/>
                <a:ea typeface="Calibri" pitchFamily="34" charset="-122"/>
                <a:cs typeface="Calibri" pitchFamily="34" charset="-120"/>
              </a:rPr>
              <a:t>are at or above the average purchase amount</a:t>
            </a:r>
            <a:endParaRPr lang="en-US" sz="1400" dirty="0"/>
          </a:p>
        </p:txBody>
      </p:sp>
      <p:sp>
        <p:nvSpPr>
          <p:cNvPr id="16" name="Discount stat 3"/>
          <p:cNvSpPr/>
          <p:nvPr/>
        </p:nvSpPr>
        <p:spPr>
          <a:xfrm>
            <a:off x="8046720" y="2011680"/>
            <a:ext cx="3566160" cy="3017520"/>
          </a:xfrm>
          <a:prstGeom prst="roundRect">
            <a:avLst>
              <a:gd name="adj" fmla="val 3636"/>
            </a:avLst>
          </a:prstGeom>
          <a:solidFill>
            <a:schemeClr val="bg2"/>
          </a:solidFill>
          <a:ln/>
        </p:spPr>
        <p:txBody>
          <a:bodyPr/>
          <a:lstStyle/>
          <a:p>
            <a:endParaRPr lang="en-IN"/>
          </a:p>
        </p:txBody>
      </p:sp>
      <p:sp>
        <p:nvSpPr>
          <p:cNvPr id="17" name="Discount icon 3 circle"/>
          <p:cNvSpPr/>
          <p:nvPr/>
        </p:nvSpPr>
        <p:spPr>
          <a:xfrm>
            <a:off x="8366760" y="2331720"/>
            <a:ext cx="640080" cy="640080"/>
          </a:xfrm>
          <a:prstGeom prst="ellipse">
            <a:avLst/>
          </a:prstGeom>
          <a:solidFill>
            <a:schemeClr val="accent1"/>
          </a:solidFill>
          <a:ln/>
        </p:spPr>
        <p:txBody>
          <a:bodyPr/>
          <a:lstStyle/>
          <a:p>
            <a:endParaRPr lang="en-IN"/>
          </a:p>
        </p:txBody>
      </p:sp>
      <p:pic>
        <p:nvPicPr>
          <p:cNvPr id="18" name="Image 2" descr="Discount icon 3"/>
          <p:cNvPicPr>
            <a:picLocks noChangeAspect="1"/>
          </p:cNvPicPr>
          <p:nvPr/>
        </p:nvPicPr>
        <p:blipFill>
          <a:blip r:embed="rId5"/>
          <a:stretch>
            <a:fillRect/>
          </a:stretch>
        </p:blipFill>
        <p:spPr>
          <a:xfrm>
            <a:off x="8533181" y="2498141"/>
            <a:ext cx="307238" cy="307238"/>
          </a:xfrm>
          <a:prstGeom prst="rect">
            <a:avLst/>
          </a:prstGeom>
        </p:spPr>
      </p:pic>
      <p:sp>
        <p:nvSpPr>
          <p:cNvPr id="19" name="Text 14"/>
          <p:cNvSpPr txBox="1"/>
          <p:nvPr/>
        </p:nvSpPr>
        <p:spPr>
          <a:xfrm>
            <a:off x="8366760" y="3108960"/>
            <a:ext cx="2926080" cy="822960"/>
          </a:xfrm>
          <a:prstGeom prst="rect">
            <a:avLst/>
          </a:prstGeom>
          <a:noFill/>
          <a:ln/>
        </p:spPr>
        <p:txBody>
          <a:bodyPr wrap="square" lIns="0" tIns="0" rIns="0" bIns="0" rtlCol="0" anchor="ctr"/>
          <a:lstStyle/>
          <a:p>
            <a:pPr marL="0" indent="0">
              <a:buNone/>
            </a:pPr>
            <a:r>
              <a:rPr lang="en-US" sz="4800" b="1" dirty="0">
                <a:solidFill>
                  <a:schemeClr val="tx1"/>
                </a:solidFill>
                <a:latin typeface="Cambria" pitchFamily="34" charset="0"/>
                <a:ea typeface="Cambria" pitchFamily="34" charset="-122"/>
                <a:cs typeface="Cambria" pitchFamily="34" charset="-120"/>
              </a:rPr>
              <a:t>43.0%</a:t>
            </a:r>
            <a:endParaRPr lang="en-US" sz="4800" dirty="0"/>
          </a:p>
        </p:txBody>
      </p:sp>
      <p:sp>
        <p:nvSpPr>
          <p:cNvPr id="20" name="Text 15"/>
          <p:cNvSpPr txBox="1"/>
          <p:nvPr/>
        </p:nvSpPr>
        <p:spPr>
          <a:xfrm>
            <a:off x="8366760" y="3931920"/>
            <a:ext cx="2926080" cy="36576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of all purchases</a:t>
            </a:r>
            <a:endParaRPr lang="en-US" sz="1800" dirty="0"/>
          </a:p>
        </p:txBody>
      </p:sp>
      <p:sp>
        <p:nvSpPr>
          <p:cNvPr id="21" name="Text 16"/>
          <p:cNvSpPr txBox="1"/>
          <p:nvPr/>
        </p:nvSpPr>
        <p:spPr>
          <a:xfrm>
            <a:off x="8366760" y="4297680"/>
            <a:ext cx="2926080" cy="640080"/>
          </a:xfrm>
          <a:prstGeom prst="rect">
            <a:avLst/>
          </a:prstGeom>
          <a:noFill/>
          <a:ln/>
        </p:spPr>
        <p:txBody>
          <a:bodyPr wrap="square" lIns="0" tIns="0" rIns="0" bIns="0" rtlCol="0" anchor="t"/>
          <a:lstStyle/>
          <a:p>
            <a:pPr marL="0" indent="0">
              <a:buNone/>
            </a:pPr>
            <a:r>
              <a:rPr lang="en-US" sz="1400" dirty="0">
                <a:solidFill>
                  <a:schemeClr val="accent4"/>
                </a:solidFill>
                <a:latin typeface="Calibri" pitchFamily="34" charset="0"/>
                <a:ea typeface="Calibri" pitchFamily="34" charset="-122"/>
                <a:cs typeface="Calibri" pitchFamily="34" charset="-120"/>
              </a:rPr>
              <a:t>use a discount (1,677 of 3,900)</a:t>
            </a:r>
            <a:endParaRPr lang="en-US" sz="1400" dirty="0"/>
          </a:p>
        </p:txBody>
      </p:sp>
      <p:sp>
        <p:nvSpPr>
          <p:cNvPr id="22" name="Takeaway bar"/>
          <p:cNvSpPr/>
          <p:nvPr/>
        </p:nvSpPr>
        <p:spPr>
          <a:xfrm>
            <a:off x="548640" y="5303520"/>
            <a:ext cx="11064240" cy="777240"/>
          </a:xfrm>
          <a:prstGeom prst="roundRect">
            <a:avLst>
              <a:gd name="adj" fmla="val 14118"/>
            </a:avLst>
          </a:prstGeom>
          <a:solidFill>
            <a:schemeClr val="accent1"/>
          </a:solidFill>
          <a:ln/>
        </p:spPr>
        <p:txBody>
          <a:bodyPr/>
          <a:lstStyle/>
          <a:p>
            <a:endParaRPr lang="en-IN"/>
          </a:p>
        </p:txBody>
      </p:sp>
      <p:sp>
        <p:nvSpPr>
          <p:cNvPr id="23" name="Text 18"/>
          <p:cNvSpPr txBox="1"/>
          <p:nvPr/>
        </p:nvSpPr>
        <p:spPr>
          <a:xfrm>
            <a:off x="822960" y="5303520"/>
            <a:ext cx="10515600" cy="777240"/>
          </a:xfrm>
          <a:prstGeom prst="rect">
            <a:avLst/>
          </a:prstGeom>
          <a:noFill/>
          <a:ln/>
        </p:spPr>
        <p:txBody>
          <a:bodyPr wrap="square" lIns="0" tIns="0" rIns="0" bIns="0" rtlCol="0" anchor="ctr"/>
          <a:lstStyle/>
          <a:p>
            <a:pPr marL="0" indent="0">
              <a:buNone/>
            </a:pPr>
            <a:r>
              <a:rPr lang="en-US" sz="1600" b="1" dirty="0">
                <a:solidFill>
                  <a:schemeClr val="bg1"/>
                </a:solidFill>
                <a:latin typeface="Calibri" pitchFamily="34" charset="0"/>
                <a:ea typeface="Calibri" pitchFamily="34" charset="-122"/>
                <a:cs typeface="Calibri" pitchFamily="34" charset="-120"/>
              </a:rPr>
              <a:t>Strategic opportunity: these 839 smart shoppers are a ready audience for targeted, exclusive offers.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a:ln/>
        </p:spPr>
        <p:txBody>
          <a:bodyPr wrap="square" lIns="0" tIns="0" rIns="0" bIns="0" rtlCol="0" anchor="ctr"/>
          <a:lstStyle/>
          <a:p>
            <a:pPr marL="0" indent="0" algn="l">
              <a:buNone/>
            </a:pPr>
            <a:r>
              <a:rPr lang="en-US" sz="3600" b="1" dirty="0">
                <a:solidFill>
                  <a:schemeClr val="tx1"/>
                </a:solidFill>
              </a:rPr>
              <a:t>Top-Rated Products</a:t>
            </a:r>
            <a:endParaRPr lang="en-US" sz="3600" dirty="0"/>
          </a:p>
        </p:txBody>
      </p:sp>
      <p:sp>
        <p:nvSpPr>
          <p:cNvPr id="39"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a:t>
            </a:fld>
            <a:endParaRPr lang="en-US"/>
          </a:p>
        </p:txBody>
      </p:sp>
      <p:sp>
        <p:nvSpPr>
          <p:cNvPr id="3" name="Product card 1"/>
          <p:cNvSpPr/>
          <p:nvPr/>
        </p:nvSpPr>
        <p:spPr>
          <a:xfrm>
            <a:off x="548640" y="1691640"/>
            <a:ext cx="2011680" cy="3383280"/>
          </a:xfrm>
          <a:prstGeom prst="roundRect">
            <a:avLst>
              <a:gd name="adj" fmla="val 5455"/>
            </a:avLst>
          </a:prstGeom>
          <a:solidFill>
            <a:schemeClr val="bg2"/>
          </a:solidFill>
          <a:ln/>
        </p:spPr>
        <p:txBody>
          <a:bodyPr/>
          <a:lstStyle/>
          <a:p>
            <a:endParaRPr lang="en-IN"/>
          </a:p>
        </p:txBody>
      </p:sp>
      <p:sp>
        <p:nvSpPr>
          <p:cNvPr id="4" name="Text 2"/>
          <p:cNvSpPr txBox="1"/>
          <p:nvPr/>
        </p:nvSpPr>
        <p:spPr>
          <a:xfrm>
            <a:off x="822960" y="1965960"/>
            <a:ext cx="914400" cy="365760"/>
          </a:xfrm>
          <a:prstGeom prst="rect">
            <a:avLst/>
          </a:prstGeom>
          <a:noFill/>
          <a:ln/>
        </p:spPr>
        <p:txBody>
          <a:bodyPr wrap="square" lIns="0" tIns="0" rIns="0" bIns="0" rtlCol="0" anchor="ctr"/>
          <a:lstStyle/>
          <a:p>
            <a:pPr marL="0" indent="0">
              <a:buNone/>
            </a:pPr>
            <a:r>
              <a:rPr lang="en-US" sz="1600" b="1" dirty="0">
                <a:solidFill>
                  <a:schemeClr val="accent2"/>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822960" y="2423160"/>
            <a:ext cx="1554480" cy="45720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Gloves</a:t>
            </a:r>
            <a:endParaRPr lang="en-US" sz="2400" dirty="0"/>
          </a:p>
        </p:txBody>
      </p:sp>
      <p:sp>
        <p:nvSpPr>
          <p:cNvPr id="6" name="Text 4"/>
          <p:cNvSpPr txBox="1"/>
          <p:nvPr/>
        </p:nvSpPr>
        <p:spPr>
          <a:xfrm>
            <a:off x="822960" y="3017520"/>
            <a:ext cx="1554480" cy="822960"/>
          </a:xfrm>
          <a:prstGeom prst="rect">
            <a:avLst/>
          </a:prstGeom>
          <a:noFill/>
          <a:ln/>
        </p:spPr>
        <p:txBody>
          <a:bodyPr wrap="square" lIns="0" tIns="0" rIns="0" bIns="0" rtlCol="0" anchor="ctr"/>
          <a:lstStyle/>
          <a:p>
            <a:pPr marL="0" indent="0">
              <a:buNone/>
            </a:pPr>
            <a:r>
              <a:rPr lang="en-US" sz="4400" b="1" dirty="0">
                <a:solidFill>
                  <a:schemeClr val="accent2"/>
                </a:solidFill>
                <a:latin typeface="Cambria" pitchFamily="34" charset="0"/>
                <a:ea typeface="Cambria" pitchFamily="34" charset="-122"/>
                <a:cs typeface="Cambria" pitchFamily="34" charset="-120"/>
              </a:rPr>
              <a:t>3.86</a:t>
            </a:r>
            <a:endParaRPr lang="en-US" sz="4400" dirty="0"/>
          </a:p>
        </p:txBody>
      </p:sp>
      <p:sp>
        <p:nvSpPr>
          <p:cNvPr id="7" name="Text 5"/>
          <p:cNvSpPr txBox="1"/>
          <p:nvPr/>
        </p:nvSpPr>
        <p:spPr>
          <a:xfrm>
            <a:off x="822960" y="3886200"/>
            <a:ext cx="1554480" cy="274320"/>
          </a:xfrm>
          <a:prstGeom prst="rect">
            <a:avLst/>
          </a:prstGeom>
          <a:noFill/>
          <a:ln/>
        </p:spPr>
        <p:txBody>
          <a:bodyPr wrap="square" lIns="0" tIns="0" rIns="0" bIns="0" rtlCol="0" anchor="ctr"/>
          <a:lstStyle/>
          <a:p>
            <a:pPr marL="0" indent="0">
              <a:buNone/>
            </a:pPr>
            <a:r>
              <a:rPr lang="en-US" sz="1400" dirty="0">
                <a:solidFill>
                  <a:schemeClr val="accent4"/>
                </a:solidFill>
                <a:latin typeface="Calibri" pitchFamily="34" charset="0"/>
                <a:ea typeface="Calibri" pitchFamily="34" charset="-122"/>
                <a:cs typeface="Calibri" pitchFamily="34" charset="-120"/>
              </a:rPr>
              <a:t>out of 5</a:t>
            </a:r>
            <a:endParaRPr lang="en-US" sz="1400" dirty="0"/>
          </a:p>
        </p:txBody>
      </p:sp>
      <p:sp>
        <p:nvSpPr>
          <p:cNvPr id="8" name="Rating track 1"/>
          <p:cNvSpPr/>
          <p:nvPr/>
        </p:nvSpPr>
        <p:spPr>
          <a:xfrm>
            <a:off x="822960" y="4434840"/>
            <a:ext cx="1463040" cy="164592"/>
          </a:xfrm>
          <a:prstGeom prst="roundRect">
            <a:avLst>
              <a:gd name="adj" fmla="val 50000"/>
            </a:avLst>
          </a:prstGeom>
          <a:solidFill>
            <a:schemeClr val="accent3">
              <a:alpha val="45000"/>
            </a:schemeClr>
          </a:solidFill>
          <a:ln/>
        </p:spPr>
        <p:txBody>
          <a:bodyPr/>
          <a:lstStyle/>
          <a:p>
            <a:endParaRPr lang="en-IN"/>
          </a:p>
        </p:txBody>
      </p:sp>
      <p:sp>
        <p:nvSpPr>
          <p:cNvPr id="9" name="Rating fill 1"/>
          <p:cNvSpPr/>
          <p:nvPr/>
        </p:nvSpPr>
        <p:spPr>
          <a:xfrm>
            <a:off x="822960" y="4434840"/>
            <a:ext cx="1129467" cy="164592"/>
          </a:xfrm>
          <a:prstGeom prst="roundRect">
            <a:avLst>
              <a:gd name="adj" fmla="val 50000"/>
            </a:avLst>
          </a:prstGeom>
          <a:solidFill>
            <a:schemeClr val="accent1"/>
          </a:solidFill>
          <a:ln/>
        </p:spPr>
        <p:txBody>
          <a:bodyPr/>
          <a:lstStyle/>
          <a:p>
            <a:endParaRPr lang="en-IN"/>
          </a:p>
        </p:txBody>
      </p:sp>
      <p:sp>
        <p:nvSpPr>
          <p:cNvPr id="10" name="Product card 2"/>
          <p:cNvSpPr/>
          <p:nvPr/>
        </p:nvSpPr>
        <p:spPr>
          <a:xfrm>
            <a:off x="2811780" y="1691640"/>
            <a:ext cx="2011680" cy="3383280"/>
          </a:xfrm>
          <a:prstGeom prst="roundRect">
            <a:avLst>
              <a:gd name="adj" fmla="val 5455"/>
            </a:avLst>
          </a:prstGeom>
          <a:solidFill>
            <a:schemeClr val="bg2"/>
          </a:solidFill>
          <a:ln/>
        </p:spPr>
        <p:txBody>
          <a:bodyPr/>
          <a:lstStyle/>
          <a:p>
            <a:endParaRPr lang="en-IN"/>
          </a:p>
        </p:txBody>
      </p:sp>
      <p:sp>
        <p:nvSpPr>
          <p:cNvPr id="11" name="Text 9"/>
          <p:cNvSpPr txBox="1"/>
          <p:nvPr/>
        </p:nvSpPr>
        <p:spPr>
          <a:xfrm>
            <a:off x="3086100" y="1965960"/>
            <a:ext cx="914400" cy="365760"/>
          </a:xfrm>
          <a:prstGeom prst="rect">
            <a:avLst/>
          </a:prstGeom>
          <a:noFill/>
          <a:ln/>
        </p:spPr>
        <p:txBody>
          <a:bodyPr wrap="square" lIns="0" tIns="0" rIns="0" bIns="0" rtlCol="0" anchor="ctr"/>
          <a:lstStyle/>
          <a:p>
            <a:pPr marL="0" indent="0">
              <a:buNone/>
            </a:pPr>
            <a:r>
              <a:rPr lang="en-US" sz="1600" b="1" dirty="0">
                <a:solidFill>
                  <a:schemeClr val="accent2"/>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3086100" y="2423160"/>
            <a:ext cx="1554480" cy="45720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Sandals</a:t>
            </a:r>
            <a:endParaRPr lang="en-US" sz="2400" dirty="0"/>
          </a:p>
        </p:txBody>
      </p:sp>
      <p:sp>
        <p:nvSpPr>
          <p:cNvPr id="13" name="Text 11"/>
          <p:cNvSpPr txBox="1"/>
          <p:nvPr/>
        </p:nvSpPr>
        <p:spPr>
          <a:xfrm>
            <a:off x="3086100" y="3017520"/>
            <a:ext cx="1554480" cy="822960"/>
          </a:xfrm>
          <a:prstGeom prst="rect">
            <a:avLst/>
          </a:prstGeom>
          <a:noFill/>
          <a:ln/>
        </p:spPr>
        <p:txBody>
          <a:bodyPr wrap="square" lIns="0" tIns="0" rIns="0" bIns="0" rtlCol="0" anchor="ctr"/>
          <a:lstStyle/>
          <a:p>
            <a:pPr marL="0" indent="0">
              <a:buNone/>
            </a:pPr>
            <a:r>
              <a:rPr lang="en-US" sz="4400" b="1" dirty="0">
                <a:solidFill>
                  <a:schemeClr val="accent2"/>
                </a:solidFill>
                <a:latin typeface="Cambria" pitchFamily="34" charset="0"/>
                <a:ea typeface="Cambria" pitchFamily="34" charset="-122"/>
                <a:cs typeface="Cambria" pitchFamily="34" charset="-120"/>
              </a:rPr>
              <a:t>3.84</a:t>
            </a:r>
            <a:endParaRPr lang="en-US" sz="4400" dirty="0"/>
          </a:p>
        </p:txBody>
      </p:sp>
      <p:sp>
        <p:nvSpPr>
          <p:cNvPr id="14" name="Text 12"/>
          <p:cNvSpPr txBox="1"/>
          <p:nvPr/>
        </p:nvSpPr>
        <p:spPr>
          <a:xfrm>
            <a:off x="3086100" y="3886200"/>
            <a:ext cx="1554480" cy="274320"/>
          </a:xfrm>
          <a:prstGeom prst="rect">
            <a:avLst/>
          </a:prstGeom>
          <a:noFill/>
          <a:ln/>
        </p:spPr>
        <p:txBody>
          <a:bodyPr wrap="square" lIns="0" tIns="0" rIns="0" bIns="0" rtlCol="0" anchor="ctr"/>
          <a:lstStyle/>
          <a:p>
            <a:pPr marL="0" indent="0">
              <a:buNone/>
            </a:pPr>
            <a:r>
              <a:rPr lang="en-US" sz="1400" dirty="0">
                <a:solidFill>
                  <a:schemeClr val="accent4"/>
                </a:solidFill>
                <a:latin typeface="Calibri" pitchFamily="34" charset="0"/>
                <a:ea typeface="Calibri" pitchFamily="34" charset="-122"/>
                <a:cs typeface="Calibri" pitchFamily="34" charset="-120"/>
              </a:rPr>
              <a:t>out of 5</a:t>
            </a:r>
            <a:endParaRPr lang="en-US" sz="1400" dirty="0"/>
          </a:p>
        </p:txBody>
      </p:sp>
      <p:sp>
        <p:nvSpPr>
          <p:cNvPr id="15" name="Rating track 2"/>
          <p:cNvSpPr/>
          <p:nvPr/>
        </p:nvSpPr>
        <p:spPr>
          <a:xfrm>
            <a:off x="3086100" y="4434840"/>
            <a:ext cx="1463040" cy="164592"/>
          </a:xfrm>
          <a:prstGeom prst="roundRect">
            <a:avLst>
              <a:gd name="adj" fmla="val 50000"/>
            </a:avLst>
          </a:prstGeom>
          <a:solidFill>
            <a:schemeClr val="accent3">
              <a:alpha val="45000"/>
            </a:schemeClr>
          </a:solidFill>
          <a:ln/>
        </p:spPr>
        <p:txBody>
          <a:bodyPr/>
          <a:lstStyle/>
          <a:p>
            <a:endParaRPr lang="en-IN"/>
          </a:p>
        </p:txBody>
      </p:sp>
      <p:sp>
        <p:nvSpPr>
          <p:cNvPr id="16" name="Rating fill 2"/>
          <p:cNvSpPr/>
          <p:nvPr/>
        </p:nvSpPr>
        <p:spPr>
          <a:xfrm>
            <a:off x="3086100" y="4434840"/>
            <a:ext cx="1123615" cy="164592"/>
          </a:xfrm>
          <a:prstGeom prst="roundRect">
            <a:avLst>
              <a:gd name="adj" fmla="val 50000"/>
            </a:avLst>
          </a:prstGeom>
          <a:solidFill>
            <a:schemeClr val="accent1"/>
          </a:solidFill>
          <a:ln/>
        </p:spPr>
        <p:txBody>
          <a:bodyPr/>
          <a:lstStyle/>
          <a:p>
            <a:endParaRPr lang="en-IN"/>
          </a:p>
        </p:txBody>
      </p:sp>
      <p:sp>
        <p:nvSpPr>
          <p:cNvPr id="17" name="Product card 3"/>
          <p:cNvSpPr/>
          <p:nvPr/>
        </p:nvSpPr>
        <p:spPr>
          <a:xfrm>
            <a:off x="5074920" y="1691640"/>
            <a:ext cx="2011680" cy="3383280"/>
          </a:xfrm>
          <a:prstGeom prst="roundRect">
            <a:avLst>
              <a:gd name="adj" fmla="val 5455"/>
            </a:avLst>
          </a:prstGeom>
          <a:solidFill>
            <a:schemeClr val="bg2"/>
          </a:solidFill>
          <a:ln/>
        </p:spPr>
        <p:txBody>
          <a:bodyPr/>
          <a:lstStyle/>
          <a:p>
            <a:endParaRPr lang="en-IN"/>
          </a:p>
        </p:txBody>
      </p:sp>
      <p:sp>
        <p:nvSpPr>
          <p:cNvPr id="18" name="Text 16"/>
          <p:cNvSpPr txBox="1"/>
          <p:nvPr/>
        </p:nvSpPr>
        <p:spPr>
          <a:xfrm>
            <a:off x="5349240" y="1965960"/>
            <a:ext cx="914400" cy="365760"/>
          </a:xfrm>
          <a:prstGeom prst="rect">
            <a:avLst/>
          </a:prstGeom>
          <a:noFill/>
          <a:ln/>
        </p:spPr>
        <p:txBody>
          <a:bodyPr wrap="square" lIns="0" tIns="0" rIns="0" bIns="0" rtlCol="0" anchor="ctr"/>
          <a:lstStyle/>
          <a:p>
            <a:pPr marL="0" indent="0">
              <a:buNone/>
            </a:pPr>
            <a:r>
              <a:rPr lang="en-US" sz="1600" b="1" dirty="0">
                <a:solidFill>
                  <a:schemeClr val="accent2"/>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5349240" y="2423160"/>
            <a:ext cx="1554480" cy="45720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Boots</a:t>
            </a:r>
            <a:endParaRPr lang="en-US" sz="2400" dirty="0"/>
          </a:p>
        </p:txBody>
      </p:sp>
      <p:sp>
        <p:nvSpPr>
          <p:cNvPr id="20" name="Text 18"/>
          <p:cNvSpPr txBox="1"/>
          <p:nvPr/>
        </p:nvSpPr>
        <p:spPr>
          <a:xfrm>
            <a:off x="5349240" y="3017520"/>
            <a:ext cx="1554480" cy="822960"/>
          </a:xfrm>
          <a:prstGeom prst="rect">
            <a:avLst/>
          </a:prstGeom>
          <a:noFill/>
          <a:ln/>
        </p:spPr>
        <p:txBody>
          <a:bodyPr wrap="square" lIns="0" tIns="0" rIns="0" bIns="0" rtlCol="0" anchor="ctr"/>
          <a:lstStyle/>
          <a:p>
            <a:pPr marL="0" indent="0">
              <a:buNone/>
            </a:pPr>
            <a:r>
              <a:rPr lang="en-US" sz="4400" b="1" dirty="0">
                <a:solidFill>
                  <a:schemeClr val="accent2"/>
                </a:solidFill>
                <a:latin typeface="Cambria" pitchFamily="34" charset="0"/>
                <a:ea typeface="Cambria" pitchFamily="34" charset="-122"/>
                <a:cs typeface="Cambria" pitchFamily="34" charset="-120"/>
              </a:rPr>
              <a:t>3.82</a:t>
            </a:r>
            <a:endParaRPr lang="en-US" sz="4400" dirty="0"/>
          </a:p>
        </p:txBody>
      </p:sp>
      <p:sp>
        <p:nvSpPr>
          <p:cNvPr id="21" name="Text 19"/>
          <p:cNvSpPr txBox="1"/>
          <p:nvPr/>
        </p:nvSpPr>
        <p:spPr>
          <a:xfrm>
            <a:off x="5349240" y="3886200"/>
            <a:ext cx="1554480" cy="274320"/>
          </a:xfrm>
          <a:prstGeom prst="rect">
            <a:avLst/>
          </a:prstGeom>
          <a:noFill/>
          <a:ln/>
        </p:spPr>
        <p:txBody>
          <a:bodyPr wrap="square" lIns="0" tIns="0" rIns="0" bIns="0" rtlCol="0" anchor="ctr"/>
          <a:lstStyle/>
          <a:p>
            <a:pPr marL="0" indent="0">
              <a:buNone/>
            </a:pPr>
            <a:r>
              <a:rPr lang="en-US" sz="1400" dirty="0">
                <a:solidFill>
                  <a:schemeClr val="accent4"/>
                </a:solidFill>
                <a:latin typeface="Calibri" pitchFamily="34" charset="0"/>
                <a:ea typeface="Calibri" pitchFamily="34" charset="-122"/>
                <a:cs typeface="Calibri" pitchFamily="34" charset="-120"/>
              </a:rPr>
              <a:t>out of 5</a:t>
            </a:r>
            <a:endParaRPr lang="en-US" sz="1400" dirty="0"/>
          </a:p>
        </p:txBody>
      </p:sp>
      <p:sp>
        <p:nvSpPr>
          <p:cNvPr id="22" name="Rating track 3"/>
          <p:cNvSpPr/>
          <p:nvPr/>
        </p:nvSpPr>
        <p:spPr>
          <a:xfrm>
            <a:off x="5349240" y="4434840"/>
            <a:ext cx="1463040" cy="164592"/>
          </a:xfrm>
          <a:prstGeom prst="roundRect">
            <a:avLst>
              <a:gd name="adj" fmla="val 50000"/>
            </a:avLst>
          </a:prstGeom>
          <a:solidFill>
            <a:schemeClr val="accent3">
              <a:alpha val="45000"/>
            </a:schemeClr>
          </a:solidFill>
          <a:ln/>
        </p:spPr>
        <p:txBody>
          <a:bodyPr/>
          <a:lstStyle/>
          <a:p>
            <a:endParaRPr lang="en-IN"/>
          </a:p>
        </p:txBody>
      </p:sp>
      <p:sp>
        <p:nvSpPr>
          <p:cNvPr id="23" name="Rating fill 3"/>
          <p:cNvSpPr/>
          <p:nvPr/>
        </p:nvSpPr>
        <p:spPr>
          <a:xfrm>
            <a:off x="5349240" y="4434840"/>
            <a:ext cx="1117763" cy="164592"/>
          </a:xfrm>
          <a:prstGeom prst="roundRect">
            <a:avLst>
              <a:gd name="adj" fmla="val 50000"/>
            </a:avLst>
          </a:prstGeom>
          <a:solidFill>
            <a:schemeClr val="accent1"/>
          </a:solidFill>
          <a:ln/>
        </p:spPr>
        <p:txBody>
          <a:bodyPr/>
          <a:lstStyle/>
          <a:p>
            <a:endParaRPr lang="en-IN"/>
          </a:p>
        </p:txBody>
      </p:sp>
      <p:sp>
        <p:nvSpPr>
          <p:cNvPr id="24" name="Product card 4"/>
          <p:cNvSpPr/>
          <p:nvPr/>
        </p:nvSpPr>
        <p:spPr>
          <a:xfrm>
            <a:off x="7338060" y="1691640"/>
            <a:ext cx="2011680" cy="3383280"/>
          </a:xfrm>
          <a:prstGeom prst="roundRect">
            <a:avLst>
              <a:gd name="adj" fmla="val 5455"/>
            </a:avLst>
          </a:prstGeom>
          <a:solidFill>
            <a:schemeClr val="bg2"/>
          </a:solidFill>
          <a:ln/>
        </p:spPr>
        <p:txBody>
          <a:bodyPr/>
          <a:lstStyle/>
          <a:p>
            <a:endParaRPr lang="en-IN"/>
          </a:p>
        </p:txBody>
      </p:sp>
      <p:sp>
        <p:nvSpPr>
          <p:cNvPr id="25" name="Text 23"/>
          <p:cNvSpPr txBox="1"/>
          <p:nvPr/>
        </p:nvSpPr>
        <p:spPr>
          <a:xfrm>
            <a:off x="7612380" y="1965960"/>
            <a:ext cx="914400" cy="365760"/>
          </a:xfrm>
          <a:prstGeom prst="rect">
            <a:avLst/>
          </a:prstGeom>
          <a:noFill/>
          <a:ln/>
        </p:spPr>
        <p:txBody>
          <a:bodyPr wrap="square" lIns="0" tIns="0" rIns="0" bIns="0" rtlCol="0" anchor="ctr"/>
          <a:lstStyle/>
          <a:p>
            <a:pPr marL="0" indent="0">
              <a:buNone/>
            </a:pPr>
            <a:r>
              <a:rPr lang="en-US" sz="1600" b="1" dirty="0">
                <a:solidFill>
                  <a:schemeClr val="accent2"/>
                </a:solidFill>
                <a:latin typeface="Calibri" pitchFamily="34" charset="0"/>
                <a:ea typeface="Calibri" pitchFamily="34" charset="-122"/>
                <a:cs typeface="Calibri" pitchFamily="34" charset="-120"/>
              </a:rPr>
              <a:t>#4</a:t>
            </a:r>
            <a:endParaRPr lang="en-US" sz="1600" dirty="0"/>
          </a:p>
        </p:txBody>
      </p:sp>
      <p:sp>
        <p:nvSpPr>
          <p:cNvPr id="26" name="Text 24"/>
          <p:cNvSpPr txBox="1"/>
          <p:nvPr/>
        </p:nvSpPr>
        <p:spPr>
          <a:xfrm>
            <a:off x="7612380" y="2423160"/>
            <a:ext cx="1554480" cy="45720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Hat</a:t>
            </a:r>
            <a:endParaRPr lang="en-US" sz="2400" dirty="0"/>
          </a:p>
        </p:txBody>
      </p:sp>
      <p:sp>
        <p:nvSpPr>
          <p:cNvPr id="27" name="Text 25"/>
          <p:cNvSpPr txBox="1"/>
          <p:nvPr/>
        </p:nvSpPr>
        <p:spPr>
          <a:xfrm>
            <a:off x="7612380" y="3017520"/>
            <a:ext cx="1554480" cy="822960"/>
          </a:xfrm>
          <a:prstGeom prst="rect">
            <a:avLst/>
          </a:prstGeom>
          <a:noFill/>
          <a:ln/>
        </p:spPr>
        <p:txBody>
          <a:bodyPr wrap="square" lIns="0" tIns="0" rIns="0" bIns="0" rtlCol="0" anchor="ctr"/>
          <a:lstStyle/>
          <a:p>
            <a:pPr marL="0" indent="0">
              <a:buNone/>
            </a:pPr>
            <a:r>
              <a:rPr lang="en-US" sz="4400" b="1" dirty="0">
                <a:solidFill>
                  <a:schemeClr val="accent2"/>
                </a:solidFill>
                <a:latin typeface="Cambria" pitchFamily="34" charset="0"/>
                <a:ea typeface="Cambria" pitchFamily="34" charset="-122"/>
                <a:cs typeface="Cambria" pitchFamily="34" charset="-120"/>
              </a:rPr>
              <a:t>3.80</a:t>
            </a:r>
            <a:endParaRPr lang="en-US" sz="4400" dirty="0"/>
          </a:p>
        </p:txBody>
      </p:sp>
      <p:sp>
        <p:nvSpPr>
          <p:cNvPr id="28" name="Text 26"/>
          <p:cNvSpPr txBox="1"/>
          <p:nvPr/>
        </p:nvSpPr>
        <p:spPr>
          <a:xfrm>
            <a:off x="7612380" y="3886200"/>
            <a:ext cx="1554480" cy="274320"/>
          </a:xfrm>
          <a:prstGeom prst="rect">
            <a:avLst/>
          </a:prstGeom>
          <a:noFill/>
          <a:ln/>
        </p:spPr>
        <p:txBody>
          <a:bodyPr wrap="square" lIns="0" tIns="0" rIns="0" bIns="0" rtlCol="0" anchor="ctr"/>
          <a:lstStyle/>
          <a:p>
            <a:pPr marL="0" indent="0">
              <a:buNone/>
            </a:pPr>
            <a:r>
              <a:rPr lang="en-US" sz="1400" dirty="0">
                <a:solidFill>
                  <a:schemeClr val="accent4"/>
                </a:solidFill>
                <a:latin typeface="Calibri" pitchFamily="34" charset="0"/>
                <a:ea typeface="Calibri" pitchFamily="34" charset="-122"/>
                <a:cs typeface="Calibri" pitchFamily="34" charset="-120"/>
              </a:rPr>
              <a:t>out of 5</a:t>
            </a:r>
            <a:endParaRPr lang="en-US" sz="1400" dirty="0"/>
          </a:p>
        </p:txBody>
      </p:sp>
      <p:sp>
        <p:nvSpPr>
          <p:cNvPr id="29" name="Rating track 4"/>
          <p:cNvSpPr/>
          <p:nvPr/>
        </p:nvSpPr>
        <p:spPr>
          <a:xfrm>
            <a:off x="7612380" y="4434840"/>
            <a:ext cx="1463040" cy="164592"/>
          </a:xfrm>
          <a:prstGeom prst="roundRect">
            <a:avLst>
              <a:gd name="adj" fmla="val 50000"/>
            </a:avLst>
          </a:prstGeom>
          <a:solidFill>
            <a:schemeClr val="accent3">
              <a:alpha val="45000"/>
            </a:schemeClr>
          </a:solidFill>
          <a:ln/>
        </p:spPr>
        <p:txBody>
          <a:bodyPr/>
          <a:lstStyle/>
          <a:p>
            <a:endParaRPr lang="en-IN"/>
          </a:p>
        </p:txBody>
      </p:sp>
      <p:sp>
        <p:nvSpPr>
          <p:cNvPr id="30" name="Rating fill 4"/>
          <p:cNvSpPr/>
          <p:nvPr/>
        </p:nvSpPr>
        <p:spPr>
          <a:xfrm>
            <a:off x="7612380" y="4434840"/>
            <a:ext cx="1111910" cy="164592"/>
          </a:xfrm>
          <a:prstGeom prst="roundRect">
            <a:avLst>
              <a:gd name="adj" fmla="val 50000"/>
            </a:avLst>
          </a:prstGeom>
          <a:solidFill>
            <a:schemeClr val="accent1"/>
          </a:solidFill>
          <a:ln/>
        </p:spPr>
        <p:txBody>
          <a:bodyPr/>
          <a:lstStyle/>
          <a:p>
            <a:endParaRPr lang="en-IN"/>
          </a:p>
        </p:txBody>
      </p:sp>
      <p:sp>
        <p:nvSpPr>
          <p:cNvPr id="31" name="Product card 5"/>
          <p:cNvSpPr/>
          <p:nvPr/>
        </p:nvSpPr>
        <p:spPr>
          <a:xfrm>
            <a:off x="9601200" y="1691640"/>
            <a:ext cx="2011680" cy="3383280"/>
          </a:xfrm>
          <a:prstGeom prst="roundRect">
            <a:avLst>
              <a:gd name="adj" fmla="val 5455"/>
            </a:avLst>
          </a:prstGeom>
          <a:solidFill>
            <a:schemeClr val="bg2"/>
          </a:solidFill>
          <a:ln/>
        </p:spPr>
        <p:txBody>
          <a:bodyPr/>
          <a:lstStyle/>
          <a:p>
            <a:endParaRPr lang="en-IN"/>
          </a:p>
        </p:txBody>
      </p:sp>
      <p:sp>
        <p:nvSpPr>
          <p:cNvPr id="32" name="Text 30"/>
          <p:cNvSpPr txBox="1"/>
          <p:nvPr/>
        </p:nvSpPr>
        <p:spPr>
          <a:xfrm>
            <a:off x="9875520" y="1965960"/>
            <a:ext cx="914400" cy="365760"/>
          </a:xfrm>
          <a:prstGeom prst="rect">
            <a:avLst/>
          </a:prstGeom>
          <a:noFill/>
          <a:ln/>
        </p:spPr>
        <p:txBody>
          <a:bodyPr wrap="square" lIns="0" tIns="0" rIns="0" bIns="0" rtlCol="0" anchor="ctr"/>
          <a:lstStyle/>
          <a:p>
            <a:pPr marL="0" indent="0">
              <a:buNone/>
            </a:pPr>
            <a:r>
              <a:rPr lang="en-US" sz="1600" b="1" dirty="0">
                <a:solidFill>
                  <a:schemeClr val="accent2"/>
                </a:solidFill>
                <a:latin typeface="Calibri" pitchFamily="34" charset="0"/>
                <a:ea typeface="Calibri" pitchFamily="34" charset="-122"/>
                <a:cs typeface="Calibri" pitchFamily="34" charset="-120"/>
              </a:rPr>
              <a:t>#5</a:t>
            </a:r>
            <a:endParaRPr lang="en-US" sz="1600" dirty="0"/>
          </a:p>
        </p:txBody>
      </p:sp>
      <p:sp>
        <p:nvSpPr>
          <p:cNvPr id="33" name="Text 31"/>
          <p:cNvSpPr txBox="1"/>
          <p:nvPr/>
        </p:nvSpPr>
        <p:spPr>
          <a:xfrm>
            <a:off x="9875520" y="2423160"/>
            <a:ext cx="1554480" cy="45720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Skirt</a:t>
            </a:r>
            <a:endParaRPr lang="en-US" sz="2400" dirty="0"/>
          </a:p>
        </p:txBody>
      </p:sp>
      <p:sp>
        <p:nvSpPr>
          <p:cNvPr id="34" name="Text 32"/>
          <p:cNvSpPr txBox="1"/>
          <p:nvPr/>
        </p:nvSpPr>
        <p:spPr>
          <a:xfrm>
            <a:off x="9875520" y="3017520"/>
            <a:ext cx="1554480" cy="822960"/>
          </a:xfrm>
          <a:prstGeom prst="rect">
            <a:avLst/>
          </a:prstGeom>
          <a:noFill/>
          <a:ln/>
        </p:spPr>
        <p:txBody>
          <a:bodyPr wrap="square" lIns="0" tIns="0" rIns="0" bIns="0" rtlCol="0" anchor="ctr"/>
          <a:lstStyle/>
          <a:p>
            <a:pPr marL="0" indent="0">
              <a:buNone/>
            </a:pPr>
            <a:r>
              <a:rPr lang="en-US" sz="4400" b="1" dirty="0">
                <a:solidFill>
                  <a:schemeClr val="accent2"/>
                </a:solidFill>
                <a:latin typeface="Cambria" pitchFamily="34" charset="0"/>
                <a:ea typeface="Cambria" pitchFamily="34" charset="-122"/>
                <a:cs typeface="Cambria" pitchFamily="34" charset="-120"/>
              </a:rPr>
              <a:t>3.78</a:t>
            </a:r>
            <a:endParaRPr lang="en-US" sz="4400" dirty="0"/>
          </a:p>
        </p:txBody>
      </p:sp>
      <p:sp>
        <p:nvSpPr>
          <p:cNvPr id="35" name="Text 33"/>
          <p:cNvSpPr txBox="1"/>
          <p:nvPr/>
        </p:nvSpPr>
        <p:spPr>
          <a:xfrm>
            <a:off x="9875520" y="3886200"/>
            <a:ext cx="1554480" cy="274320"/>
          </a:xfrm>
          <a:prstGeom prst="rect">
            <a:avLst/>
          </a:prstGeom>
          <a:noFill/>
          <a:ln/>
        </p:spPr>
        <p:txBody>
          <a:bodyPr wrap="square" lIns="0" tIns="0" rIns="0" bIns="0" rtlCol="0" anchor="ctr"/>
          <a:lstStyle/>
          <a:p>
            <a:pPr marL="0" indent="0">
              <a:buNone/>
            </a:pPr>
            <a:r>
              <a:rPr lang="en-US" sz="1400" dirty="0">
                <a:solidFill>
                  <a:schemeClr val="accent4"/>
                </a:solidFill>
                <a:latin typeface="Calibri" pitchFamily="34" charset="0"/>
                <a:ea typeface="Calibri" pitchFamily="34" charset="-122"/>
                <a:cs typeface="Calibri" pitchFamily="34" charset="-120"/>
              </a:rPr>
              <a:t>out of 5</a:t>
            </a:r>
            <a:endParaRPr lang="en-US" sz="1400" dirty="0"/>
          </a:p>
        </p:txBody>
      </p:sp>
      <p:sp>
        <p:nvSpPr>
          <p:cNvPr id="36" name="Rating track 5"/>
          <p:cNvSpPr/>
          <p:nvPr/>
        </p:nvSpPr>
        <p:spPr>
          <a:xfrm>
            <a:off x="9875520" y="4434840"/>
            <a:ext cx="1463040" cy="164592"/>
          </a:xfrm>
          <a:prstGeom prst="roundRect">
            <a:avLst>
              <a:gd name="adj" fmla="val 50000"/>
            </a:avLst>
          </a:prstGeom>
          <a:solidFill>
            <a:schemeClr val="accent3">
              <a:alpha val="45000"/>
            </a:schemeClr>
          </a:solidFill>
          <a:ln/>
        </p:spPr>
        <p:txBody>
          <a:bodyPr/>
          <a:lstStyle/>
          <a:p>
            <a:endParaRPr lang="en-IN"/>
          </a:p>
        </p:txBody>
      </p:sp>
      <p:sp>
        <p:nvSpPr>
          <p:cNvPr id="37" name="Rating fill 5"/>
          <p:cNvSpPr/>
          <p:nvPr/>
        </p:nvSpPr>
        <p:spPr>
          <a:xfrm>
            <a:off x="9875520" y="4434840"/>
            <a:ext cx="1106058" cy="164592"/>
          </a:xfrm>
          <a:prstGeom prst="roundRect">
            <a:avLst>
              <a:gd name="adj" fmla="val 50000"/>
            </a:avLst>
          </a:prstGeom>
          <a:solidFill>
            <a:schemeClr val="accent1"/>
          </a:solidFill>
          <a:ln/>
        </p:spPr>
        <p:txBody>
          <a:bodyPr/>
          <a:lstStyle/>
          <a:p>
            <a:endParaRPr lang="en-IN"/>
          </a:p>
        </p:txBody>
      </p:sp>
      <p:sp>
        <p:nvSpPr>
          <p:cNvPr id="38" name="Text 36"/>
          <p:cNvSpPr txBox="1"/>
          <p:nvPr/>
        </p:nvSpPr>
        <p:spPr>
          <a:xfrm>
            <a:off x="548640" y="5394960"/>
            <a:ext cx="11064240" cy="640080"/>
          </a:xfrm>
          <a:prstGeom prst="rect">
            <a:avLst/>
          </a:prstGeom>
          <a:noFill/>
          <a:ln/>
        </p:spPr>
        <p:txBody>
          <a:bodyPr wrap="square" lIns="0" tIns="0" rIns="0" bIns="0" rtlCol="0" anchor="t"/>
          <a:lstStyle/>
          <a:p>
            <a:pPr marL="0" indent="0">
              <a:buNone/>
            </a:pPr>
            <a:r>
              <a:rPr lang="en-US" sz="1600" dirty="0">
                <a:solidFill>
                  <a:schemeClr val="accent4"/>
                </a:solidFill>
                <a:latin typeface="Calibri" pitchFamily="34" charset="0"/>
                <a:ea typeface="Calibri" pitchFamily="34" charset="-122"/>
                <a:cs typeface="Calibri" pitchFamily="34" charset="-120"/>
              </a:rPr>
              <a:t>Average review rating by item. The top five span only 0.08 points, so ratings are tightly clustered across the range.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a:ln/>
        </p:spPr>
        <p:txBody>
          <a:bodyPr wrap="square" lIns="0" tIns="0" rIns="0" bIns="0" rtlCol="0" anchor="ctr"/>
          <a:lstStyle/>
          <a:p>
            <a:pPr marL="0" indent="0" algn="l">
              <a:buNone/>
            </a:pPr>
            <a:r>
              <a:rPr lang="en-US" sz="3600" b="1" dirty="0">
                <a:solidFill>
                  <a:schemeClr val="tx1"/>
                </a:solidFill>
              </a:rPr>
              <a:t>Shipping Preferences Impact</a:t>
            </a:r>
            <a:endParaRPr lang="en-US" sz="3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7</a:t>
            </a:fld>
            <a:endParaRPr lang="en-US"/>
          </a:p>
        </p:txBody>
      </p:sp>
      <p:sp>
        <p:nvSpPr>
          <p:cNvPr id="3" name="Shipping callout card"/>
          <p:cNvSpPr/>
          <p:nvPr/>
        </p:nvSpPr>
        <p:spPr>
          <a:xfrm>
            <a:off x="548640" y="1554480"/>
            <a:ext cx="4480560" cy="4480560"/>
          </a:xfrm>
          <a:prstGeom prst="roundRect">
            <a:avLst>
              <a:gd name="adj" fmla="val 2449"/>
            </a:avLst>
          </a:prstGeom>
          <a:solidFill>
            <a:schemeClr val="bg2"/>
          </a:solidFill>
          <a:ln/>
        </p:spPr>
        <p:txBody>
          <a:bodyPr/>
          <a:lstStyle/>
          <a:p>
            <a:endParaRPr lang="en-IN"/>
          </a:p>
        </p:txBody>
      </p:sp>
      <p:sp>
        <p:nvSpPr>
          <p:cNvPr id="4" name="Text 2"/>
          <p:cNvSpPr txBox="1"/>
          <p:nvPr/>
        </p:nvSpPr>
        <p:spPr>
          <a:xfrm>
            <a:off x="914400" y="1783080"/>
            <a:ext cx="3840480" cy="320040"/>
          </a:xfrm>
          <a:prstGeom prst="rect">
            <a:avLst/>
          </a:prstGeom>
          <a:noFill/>
          <a:ln/>
        </p:spPr>
        <p:txBody>
          <a:bodyPr wrap="square" lIns="0" tIns="0" rIns="0" bIns="0" rtlCol="0" anchor="ctr"/>
          <a:lstStyle/>
          <a:p>
            <a:pPr marL="0" indent="0">
              <a:buNone/>
            </a:pPr>
            <a:r>
              <a:rPr lang="en-US" sz="1600" b="1" dirty="0">
                <a:solidFill>
                  <a:schemeClr val="accent2"/>
                </a:solidFill>
                <a:latin typeface="Calibri" pitchFamily="34" charset="0"/>
                <a:ea typeface="Calibri" pitchFamily="34" charset="-122"/>
                <a:cs typeface="Calibri" pitchFamily="34" charset="-120"/>
              </a:rPr>
              <a:t>Express shipping</a:t>
            </a:r>
            <a:endParaRPr lang="en-US" sz="1600" dirty="0"/>
          </a:p>
        </p:txBody>
      </p:sp>
      <p:sp>
        <p:nvSpPr>
          <p:cNvPr id="5" name="Text 3"/>
          <p:cNvSpPr txBox="1"/>
          <p:nvPr/>
        </p:nvSpPr>
        <p:spPr>
          <a:xfrm>
            <a:off x="914400" y="2148840"/>
            <a:ext cx="3840480" cy="822960"/>
          </a:xfrm>
          <a:prstGeom prst="rect">
            <a:avLst/>
          </a:prstGeom>
          <a:noFill/>
          <a:ln/>
        </p:spPr>
        <p:txBody>
          <a:bodyPr wrap="square" lIns="0" tIns="0" rIns="0" bIns="0" rtlCol="0" anchor="ctr"/>
          <a:lstStyle/>
          <a:p>
            <a:pPr marL="0" indent="0">
              <a:buNone/>
            </a:pPr>
            <a:r>
              <a:rPr lang="en-US" sz="5400" b="1" dirty="0">
                <a:solidFill>
                  <a:schemeClr val="tx1"/>
                </a:solidFill>
                <a:latin typeface="Cambria" pitchFamily="34" charset="0"/>
                <a:ea typeface="Cambria" pitchFamily="34" charset="-122"/>
                <a:cs typeface="Cambria" pitchFamily="34" charset="-120"/>
              </a:rPr>
              <a:t>$60.48</a:t>
            </a:r>
            <a:endParaRPr lang="en-US" sz="5400" dirty="0"/>
          </a:p>
        </p:txBody>
      </p:sp>
      <p:sp>
        <p:nvSpPr>
          <p:cNvPr id="6" name="Text 4"/>
          <p:cNvSpPr txBox="1"/>
          <p:nvPr/>
        </p:nvSpPr>
        <p:spPr>
          <a:xfrm>
            <a:off x="914400" y="2971800"/>
            <a:ext cx="3840480" cy="274320"/>
          </a:xfrm>
          <a:prstGeom prst="rect">
            <a:avLst/>
          </a:prstGeom>
          <a:noFill/>
          <a:ln/>
        </p:spPr>
        <p:txBody>
          <a:bodyPr wrap="square" lIns="0" tIns="0" rIns="0" bIns="0" rtlCol="0" anchor="ctr"/>
          <a:lstStyle/>
          <a:p>
            <a:pPr marL="0" indent="0">
              <a:buNone/>
            </a:pPr>
            <a:r>
              <a:rPr lang="en-US" sz="1400" dirty="0">
                <a:solidFill>
                  <a:schemeClr val="accent4"/>
                </a:solidFill>
                <a:latin typeface="Calibri" pitchFamily="34" charset="0"/>
                <a:ea typeface="Calibri" pitchFamily="34" charset="-122"/>
                <a:cs typeface="Calibri" pitchFamily="34" charset="-120"/>
              </a:rPr>
              <a:t>Average purchase amount</a:t>
            </a:r>
            <a:endParaRPr lang="en-US" sz="1400" dirty="0"/>
          </a:p>
        </p:txBody>
      </p:sp>
      <p:sp>
        <p:nvSpPr>
          <p:cNvPr id="7" name="Text 5"/>
          <p:cNvSpPr txBox="1"/>
          <p:nvPr/>
        </p:nvSpPr>
        <p:spPr>
          <a:xfrm>
            <a:off x="914400" y="3520440"/>
            <a:ext cx="3840480" cy="320040"/>
          </a:xfrm>
          <a:prstGeom prst="rect">
            <a:avLst/>
          </a:prstGeom>
          <a:noFill/>
          <a:ln/>
        </p:spPr>
        <p:txBody>
          <a:bodyPr wrap="square" lIns="0" tIns="0" rIns="0" bIns="0" rtlCol="0" anchor="ctr"/>
          <a:lstStyle/>
          <a:p>
            <a:pPr marL="0" indent="0">
              <a:buNone/>
            </a:pPr>
            <a:r>
              <a:rPr lang="en-US" sz="1600" b="1" dirty="0">
                <a:solidFill>
                  <a:schemeClr val="accent2"/>
                </a:solidFill>
                <a:latin typeface="Calibri" pitchFamily="34" charset="0"/>
                <a:ea typeface="Calibri" pitchFamily="34" charset="-122"/>
                <a:cs typeface="Calibri" pitchFamily="34" charset="-120"/>
              </a:rPr>
              <a:t>Standard shipping</a:t>
            </a:r>
            <a:endParaRPr lang="en-US" sz="1600" dirty="0"/>
          </a:p>
        </p:txBody>
      </p:sp>
      <p:sp>
        <p:nvSpPr>
          <p:cNvPr id="8" name="Text 6"/>
          <p:cNvSpPr txBox="1"/>
          <p:nvPr/>
        </p:nvSpPr>
        <p:spPr>
          <a:xfrm>
            <a:off x="914400" y="3886200"/>
            <a:ext cx="3840480" cy="822960"/>
          </a:xfrm>
          <a:prstGeom prst="rect">
            <a:avLst/>
          </a:prstGeom>
          <a:noFill/>
          <a:ln/>
        </p:spPr>
        <p:txBody>
          <a:bodyPr wrap="square" lIns="0" tIns="0" rIns="0" bIns="0" rtlCol="0" anchor="ctr"/>
          <a:lstStyle/>
          <a:p>
            <a:pPr marL="0" indent="0">
              <a:buNone/>
            </a:pPr>
            <a:r>
              <a:rPr lang="en-US" sz="5400" b="1" dirty="0">
                <a:solidFill>
                  <a:schemeClr val="tx1"/>
                </a:solidFill>
                <a:latin typeface="Cambria" pitchFamily="34" charset="0"/>
                <a:ea typeface="Cambria" pitchFamily="34" charset="-122"/>
                <a:cs typeface="Cambria" pitchFamily="34" charset="-120"/>
              </a:rPr>
              <a:t>$58.46</a:t>
            </a:r>
            <a:endParaRPr lang="en-US" sz="5400" dirty="0"/>
          </a:p>
        </p:txBody>
      </p:sp>
      <p:sp>
        <p:nvSpPr>
          <p:cNvPr id="9" name="Text 7"/>
          <p:cNvSpPr txBox="1"/>
          <p:nvPr/>
        </p:nvSpPr>
        <p:spPr>
          <a:xfrm>
            <a:off x="914400" y="4709160"/>
            <a:ext cx="3840480" cy="274320"/>
          </a:xfrm>
          <a:prstGeom prst="rect">
            <a:avLst/>
          </a:prstGeom>
          <a:noFill/>
          <a:ln/>
        </p:spPr>
        <p:txBody>
          <a:bodyPr wrap="square" lIns="0" tIns="0" rIns="0" bIns="0" rtlCol="0" anchor="ctr"/>
          <a:lstStyle/>
          <a:p>
            <a:pPr marL="0" indent="0">
              <a:buNone/>
            </a:pPr>
            <a:r>
              <a:rPr lang="en-US" sz="1400" dirty="0">
                <a:solidFill>
                  <a:schemeClr val="accent4"/>
                </a:solidFill>
                <a:latin typeface="Calibri" pitchFamily="34" charset="0"/>
                <a:ea typeface="Calibri" pitchFamily="34" charset="-122"/>
                <a:cs typeface="Calibri" pitchFamily="34" charset="-120"/>
              </a:rPr>
              <a:t>Average purchase amount</a:t>
            </a:r>
            <a:endParaRPr lang="en-US" sz="1400" dirty="0"/>
          </a:p>
        </p:txBody>
      </p:sp>
      <p:sp>
        <p:nvSpPr>
          <p:cNvPr id="10" name="Text 8"/>
          <p:cNvSpPr txBox="1"/>
          <p:nvPr/>
        </p:nvSpPr>
        <p:spPr>
          <a:xfrm>
            <a:off x="914400" y="5212080"/>
            <a:ext cx="3840480" cy="73152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Express buyers spend $2.02 (3.5%) more per purchase than Standard buyers.</a:t>
            </a:r>
            <a:endParaRPr lang="en-US" sz="1400" dirty="0"/>
          </a:p>
        </p:txBody>
      </p:sp>
      <p:graphicFrame>
        <p:nvGraphicFramePr>
          <p:cNvPr id="11" name="Chart 0"/>
          <p:cNvGraphicFramePr/>
          <p:nvPr/>
        </p:nvGraphicFramePr>
        <p:xfrm>
          <a:off x="5394960" y="1554480"/>
          <a:ext cx="6217920" cy="44805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a:ln/>
        </p:spPr>
        <p:txBody>
          <a:bodyPr wrap="square" lIns="0" tIns="0" rIns="0" bIns="0" rtlCol="0" anchor="ctr"/>
          <a:lstStyle/>
          <a:p>
            <a:pPr marL="0" indent="0" algn="l">
              <a:buNone/>
            </a:pPr>
            <a:r>
              <a:rPr lang="en-US" sz="3600" b="1" dirty="0">
                <a:solidFill>
                  <a:schemeClr val="tx1"/>
                </a:solidFill>
              </a:rPr>
              <a:t>Subscription Impact</a:t>
            </a:r>
            <a:endParaRPr lang="en-US" sz="3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8</a:t>
            </a:fld>
            <a:endParaRPr lang="en-US"/>
          </a:p>
        </p:txBody>
      </p:sp>
      <p:sp>
        <p:nvSpPr>
          <p:cNvPr id="3" name="Ring card 1"/>
          <p:cNvSpPr/>
          <p:nvPr/>
        </p:nvSpPr>
        <p:spPr>
          <a:xfrm>
            <a:off x="548640" y="1554480"/>
            <a:ext cx="3566160" cy="3794760"/>
          </a:xfrm>
          <a:prstGeom prst="roundRect">
            <a:avLst>
              <a:gd name="adj" fmla="val 3077"/>
            </a:avLst>
          </a:prstGeom>
          <a:solidFill>
            <a:schemeClr val="bg2"/>
          </a:solidFill>
          <a:ln/>
        </p:spPr>
        <p:txBody>
          <a:bodyPr/>
          <a:lstStyle/>
          <a:p>
            <a:endParaRPr lang="en-IN"/>
          </a:p>
        </p:txBody>
      </p:sp>
      <p:graphicFrame>
        <p:nvGraphicFramePr>
          <p:cNvPr id="4" name="Chart 0"/>
          <p:cNvGraphicFramePr/>
          <p:nvPr/>
        </p:nvGraphicFramePr>
        <p:xfrm>
          <a:off x="1234440" y="1691640"/>
          <a:ext cx="2194560" cy="21945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1234440" y="1691640"/>
            <a:ext cx="2194560" cy="2194560"/>
          </a:xfrm>
          <a:prstGeom prst="rect">
            <a:avLst/>
          </a:prstGeom>
          <a:noFill/>
          <a:ln/>
        </p:spPr>
        <p:txBody>
          <a:bodyPr wrap="square" lIns="0" tIns="0" rIns="0" bIns="0" rtlCol="0" anchor="ctr"/>
          <a:lstStyle/>
          <a:p>
            <a:pPr marL="0" indent="0" algn="ctr">
              <a:buNone/>
            </a:pPr>
            <a:r>
              <a:rPr lang="en-US" sz="2800" b="1" dirty="0">
                <a:solidFill>
                  <a:schemeClr val="tx1"/>
                </a:solidFill>
                <a:latin typeface="Cambria" pitchFamily="34" charset="0"/>
                <a:ea typeface="Cambria" pitchFamily="34" charset="-122"/>
                <a:cs typeface="Cambria" pitchFamily="34" charset="-120"/>
              </a:rPr>
              <a:t>27.0%</a:t>
            </a:r>
            <a:endParaRPr lang="en-US" sz="2800" dirty="0"/>
          </a:p>
        </p:txBody>
      </p:sp>
      <p:sp>
        <p:nvSpPr>
          <p:cNvPr id="6" name="Text 3"/>
          <p:cNvSpPr txBox="1"/>
          <p:nvPr/>
        </p:nvSpPr>
        <p:spPr>
          <a:xfrm>
            <a:off x="822960" y="3977640"/>
            <a:ext cx="3017520" cy="365760"/>
          </a:xfrm>
          <a:prstGeom prst="rect">
            <a:avLst/>
          </a:prstGeom>
          <a:noFill/>
          <a:ln/>
        </p:spPr>
        <p:txBody>
          <a:bodyPr wrap="square" lIns="0" tIns="0" rIns="0" bIns="0" rtlCol="0" anchor="ctr"/>
          <a:lstStyle/>
          <a:p>
            <a:pPr marL="0" indent="0" algn="ctr">
              <a:buNone/>
            </a:pPr>
            <a:r>
              <a:rPr lang="en-US" sz="1800" b="1" dirty="0">
                <a:solidFill>
                  <a:schemeClr val="tx1"/>
                </a:solidFill>
                <a:latin typeface="Calibri" pitchFamily="34" charset="0"/>
                <a:ea typeface="Calibri" pitchFamily="34" charset="-122"/>
                <a:cs typeface="Calibri" pitchFamily="34" charset="-120"/>
              </a:rPr>
              <a:t>of customers subscribe</a:t>
            </a:r>
            <a:endParaRPr lang="en-US" sz="1800" dirty="0"/>
          </a:p>
        </p:txBody>
      </p:sp>
      <p:sp>
        <p:nvSpPr>
          <p:cNvPr id="7" name="Text 4"/>
          <p:cNvSpPr txBox="1"/>
          <p:nvPr/>
        </p:nvSpPr>
        <p:spPr>
          <a:xfrm>
            <a:off x="822960" y="4389120"/>
            <a:ext cx="3017520" cy="731520"/>
          </a:xfrm>
          <a:prstGeom prst="rect">
            <a:avLst/>
          </a:prstGeom>
          <a:noFill/>
          <a:ln/>
        </p:spPr>
        <p:txBody>
          <a:bodyPr wrap="square" lIns="0" tIns="0" rIns="0" bIns="0" rtlCol="0" anchor="t"/>
          <a:lstStyle/>
          <a:p>
            <a:pPr marL="0" indent="0" algn="ctr">
              <a:buNone/>
            </a:pPr>
            <a:r>
              <a:rPr lang="en-US" sz="1400" dirty="0">
                <a:solidFill>
                  <a:schemeClr val="accent4"/>
                </a:solidFill>
                <a:latin typeface="Calibri" pitchFamily="34" charset="0"/>
                <a:ea typeface="Calibri" pitchFamily="34" charset="-122"/>
                <a:cs typeface="Calibri" pitchFamily="34" charset="-120"/>
              </a:rPr>
              <a:t>1,053 of 3,900 customers</a:t>
            </a:r>
            <a:endParaRPr lang="en-US" sz="1400" dirty="0"/>
          </a:p>
        </p:txBody>
      </p:sp>
      <p:sp>
        <p:nvSpPr>
          <p:cNvPr id="8" name="Ring card 2"/>
          <p:cNvSpPr/>
          <p:nvPr/>
        </p:nvSpPr>
        <p:spPr>
          <a:xfrm>
            <a:off x="4297680" y="1554480"/>
            <a:ext cx="3566160" cy="3794760"/>
          </a:xfrm>
          <a:prstGeom prst="roundRect">
            <a:avLst>
              <a:gd name="adj" fmla="val 3077"/>
            </a:avLst>
          </a:prstGeom>
          <a:solidFill>
            <a:schemeClr val="bg2"/>
          </a:solidFill>
          <a:ln/>
        </p:spPr>
        <p:txBody>
          <a:bodyPr/>
          <a:lstStyle/>
          <a:p>
            <a:endParaRPr lang="en-IN"/>
          </a:p>
        </p:txBody>
      </p:sp>
      <p:graphicFrame>
        <p:nvGraphicFramePr>
          <p:cNvPr id="9" name="Chart 1"/>
          <p:cNvGraphicFramePr/>
          <p:nvPr/>
        </p:nvGraphicFramePr>
        <p:xfrm>
          <a:off x="4983480" y="1691640"/>
          <a:ext cx="2194560" cy="219456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6"/>
          <p:cNvSpPr txBox="1"/>
          <p:nvPr/>
        </p:nvSpPr>
        <p:spPr>
          <a:xfrm>
            <a:off x="4983480" y="1691640"/>
            <a:ext cx="2194560" cy="2194560"/>
          </a:xfrm>
          <a:prstGeom prst="rect">
            <a:avLst/>
          </a:prstGeom>
          <a:noFill/>
          <a:ln/>
        </p:spPr>
        <p:txBody>
          <a:bodyPr wrap="square" lIns="0" tIns="0" rIns="0" bIns="0" rtlCol="0" anchor="ctr"/>
          <a:lstStyle/>
          <a:p>
            <a:pPr marL="0" indent="0" algn="ctr">
              <a:buNone/>
            </a:pPr>
            <a:r>
              <a:rPr lang="en-US" sz="2800" b="1" dirty="0">
                <a:solidFill>
                  <a:schemeClr val="tx1"/>
                </a:solidFill>
                <a:latin typeface="Cambria" pitchFamily="34" charset="0"/>
                <a:ea typeface="Cambria" pitchFamily="34" charset="-122"/>
                <a:cs typeface="Cambria" pitchFamily="34" charset="-120"/>
              </a:rPr>
              <a:t>26.9%</a:t>
            </a:r>
            <a:endParaRPr lang="en-US" sz="2800" dirty="0"/>
          </a:p>
        </p:txBody>
      </p:sp>
      <p:sp>
        <p:nvSpPr>
          <p:cNvPr id="11" name="Text 7"/>
          <p:cNvSpPr txBox="1"/>
          <p:nvPr/>
        </p:nvSpPr>
        <p:spPr>
          <a:xfrm>
            <a:off x="4572000" y="3977640"/>
            <a:ext cx="3017520" cy="365760"/>
          </a:xfrm>
          <a:prstGeom prst="rect">
            <a:avLst/>
          </a:prstGeom>
          <a:noFill/>
          <a:ln/>
        </p:spPr>
        <p:txBody>
          <a:bodyPr wrap="square" lIns="0" tIns="0" rIns="0" bIns="0" rtlCol="0" anchor="ctr"/>
          <a:lstStyle/>
          <a:p>
            <a:pPr marL="0" indent="0" algn="ctr">
              <a:buNone/>
            </a:pPr>
            <a:r>
              <a:rPr lang="en-US" sz="1800" b="1" dirty="0">
                <a:solidFill>
                  <a:schemeClr val="tx1"/>
                </a:solidFill>
                <a:latin typeface="Calibri" pitchFamily="34" charset="0"/>
                <a:ea typeface="Calibri" pitchFamily="34" charset="-122"/>
                <a:cs typeface="Calibri" pitchFamily="34" charset="-120"/>
              </a:rPr>
              <a:t>of revenue from subscribers</a:t>
            </a:r>
            <a:endParaRPr lang="en-US" sz="1800" dirty="0"/>
          </a:p>
        </p:txBody>
      </p:sp>
      <p:sp>
        <p:nvSpPr>
          <p:cNvPr id="12" name="Text 8"/>
          <p:cNvSpPr txBox="1"/>
          <p:nvPr/>
        </p:nvSpPr>
        <p:spPr>
          <a:xfrm>
            <a:off x="4572000" y="4389120"/>
            <a:ext cx="3017520" cy="731520"/>
          </a:xfrm>
          <a:prstGeom prst="rect">
            <a:avLst/>
          </a:prstGeom>
          <a:noFill/>
          <a:ln/>
        </p:spPr>
        <p:txBody>
          <a:bodyPr wrap="square" lIns="0" tIns="0" rIns="0" bIns="0" rtlCol="0" anchor="t"/>
          <a:lstStyle/>
          <a:p>
            <a:pPr marL="0" indent="0" algn="ctr">
              <a:buNone/>
            </a:pPr>
            <a:r>
              <a:rPr lang="en-US" sz="1400" dirty="0">
                <a:solidFill>
                  <a:schemeClr val="accent4"/>
                </a:solidFill>
                <a:latin typeface="Calibri" pitchFamily="34" charset="0"/>
                <a:ea typeface="Calibri" pitchFamily="34" charset="-122"/>
                <a:cs typeface="Calibri" pitchFamily="34" charset="-120"/>
              </a:rPr>
              <a:t>$62,645 of $233,081</a:t>
            </a:r>
            <a:endParaRPr lang="en-US" sz="1400" dirty="0"/>
          </a:p>
        </p:txBody>
      </p:sp>
      <p:sp>
        <p:nvSpPr>
          <p:cNvPr id="13" name="Ring card 3"/>
          <p:cNvSpPr/>
          <p:nvPr/>
        </p:nvSpPr>
        <p:spPr>
          <a:xfrm>
            <a:off x="8046720" y="1554480"/>
            <a:ext cx="3566160" cy="3794760"/>
          </a:xfrm>
          <a:prstGeom prst="roundRect">
            <a:avLst>
              <a:gd name="adj" fmla="val 3077"/>
            </a:avLst>
          </a:prstGeom>
          <a:solidFill>
            <a:schemeClr val="bg2"/>
          </a:solidFill>
          <a:ln/>
        </p:spPr>
        <p:txBody>
          <a:bodyPr/>
          <a:lstStyle/>
          <a:p>
            <a:endParaRPr lang="en-IN"/>
          </a:p>
        </p:txBody>
      </p:sp>
      <p:graphicFrame>
        <p:nvGraphicFramePr>
          <p:cNvPr id="14" name="Chart 2"/>
          <p:cNvGraphicFramePr/>
          <p:nvPr/>
        </p:nvGraphicFramePr>
        <p:xfrm>
          <a:off x="8732520" y="1691640"/>
          <a:ext cx="2194560" cy="2194560"/>
        </p:xfrm>
        <a:graphic>
          <a:graphicData uri="http://schemas.openxmlformats.org/drawingml/2006/chart">
            <c:chart xmlns:c="http://schemas.openxmlformats.org/drawingml/2006/chart" xmlns:r="http://schemas.openxmlformats.org/officeDocument/2006/relationships" r:id="rId5"/>
          </a:graphicData>
        </a:graphic>
      </p:graphicFrame>
      <p:sp>
        <p:nvSpPr>
          <p:cNvPr id="15" name="Text 10"/>
          <p:cNvSpPr txBox="1"/>
          <p:nvPr/>
        </p:nvSpPr>
        <p:spPr>
          <a:xfrm>
            <a:off x="8732520" y="1691640"/>
            <a:ext cx="2194560" cy="2194560"/>
          </a:xfrm>
          <a:prstGeom prst="rect">
            <a:avLst/>
          </a:prstGeom>
          <a:noFill/>
          <a:ln/>
        </p:spPr>
        <p:txBody>
          <a:bodyPr wrap="square" lIns="0" tIns="0" rIns="0" bIns="0" rtlCol="0" anchor="ctr"/>
          <a:lstStyle/>
          <a:p>
            <a:pPr marL="0" indent="0" algn="ctr">
              <a:buNone/>
            </a:pPr>
            <a:r>
              <a:rPr lang="en-US" sz="2800" b="1" dirty="0">
                <a:solidFill>
                  <a:schemeClr val="tx1"/>
                </a:solidFill>
                <a:latin typeface="Cambria" pitchFamily="34" charset="0"/>
                <a:ea typeface="Cambria" pitchFamily="34" charset="-122"/>
                <a:cs typeface="Cambria" pitchFamily="34" charset="-120"/>
              </a:rPr>
              <a:t>27.6%</a:t>
            </a:r>
            <a:endParaRPr lang="en-US" sz="2800" dirty="0"/>
          </a:p>
        </p:txBody>
      </p:sp>
      <p:sp>
        <p:nvSpPr>
          <p:cNvPr id="16" name="Text 11"/>
          <p:cNvSpPr txBox="1"/>
          <p:nvPr/>
        </p:nvSpPr>
        <p:spPr>
          <a:xfrm>
            <a:off x="8321040" y="3977640"/>
            <a:ext cx="3017520" cy="365760"/>
          </a:xfrm>
          <a:prstGeom prst="rect">
            <a:avLst/>
          </a:prstGeom>
          <a:noFill/>
          <a:ln/>
        </p:spPr>
        <p:txBody>
          <a:bodyPr wrap="square" lIns="0" tIns="0" rIns="0" bIns="0" rtlCol="0" anchor="ctr"/>
          <a:lstStyle/>
          <a:p>
            <a:pPr marL="0" indent="0" algn="ctr">
              <a:buNone/>
            </a:pPr>
            <a:r>
              <a:rPr lang="en-US" sz="1800" b="1" dirty="0">
                <a:solidFill>
                  <a:schemeClr val="tx1"/>
                </a:solidFill>
                <a:latin typeface="Calibri" pitchFamily="34" charset="0"/>
                <a:ea typeface="Calibri" pitchFamily="34" charset="-122"/>
                <a:cs typeface="Calibri" pitchFamily="34" charset="-120"/>
              </a:rPr>
              <a:t>of repeat buyers subscribe</a:t>
            </a:r>
            <a:endParaRPr lang="en-US" sz="1800" dirty="0"/>
          </a:p>
        </p:txBody>
      </p:sp>
      <p:sp>
        <p:nvSpPr>
          <p:cNvPr id="17" name="Text 12"/>
          <p:cNvSpPr txBox="1"/>
          <p:nvPr/>
        </p:nvSpPr>
        <p:spPr>
          <a:xfrm>
            <a:off x="8321040" y="4389120"/>
            <a:ext cx="3017520" cy="731520"/>
          </a:xfrm>
          <a:prstGeom prst="rect">
            <a:avLst/>
          </a:prstGeom>
          <a:noFill/>
          <a:ln/>
        </p:spPr>
        <p:txBody>
          <a:bodyPr wrap="square" lIns="0" tIns="0" rIns="0" bIns="0" rtlCol="0" anchor="t"/>
          <a:lstStyle/>
          <a:p>
            <a:pPr marL="0" indent="0" algn="ctr">
              <a:buNone/>
            </a:pPr>
            <a:r>
              <a:rPr lang="en-US" sz="1400" dirty="0">
                <a:solidFill>
                  <a:schemeClr val="accent4"/>
                </a:solidFill>
                <a:latin typeface="Calibri" pitchFamily="34" charset="0"/>
                <a:ea typeface="Calibri" pitchFamily="34" charset="-122"/>
                <a:cs typeface="Calibri" pitchFamily="34" charset="-120"/>
              </a:rPr>
              <a:t>3,476 customers with more than 5 previous purchases</a:t>
            </a:r>
            <a:endParaRPr lang="en-US" sz="1400" dirty="0"/>
          </a:p>
        </p:txBody>
      </p:sp>
      <p:sp>
        <p:nvSpPr>
          <p:cNvPr id="18" name="Takeaway bar"/>
          <p:cNvSpPr/>
          <p:nvPr/>
        </p:nvSpPr>
        <p:spPr>
          <a:xfrm>
            <a:off x="548640" y="5532120"/>
            <a:ext cx="11064240" cy="685800"/>
          </a:xfrm>
          <a:prstGeom prst="roundRect">
            <a:avLst>
              <a:gd name="adj" fmla="val 16000"/>
            </a:avLst>
          </a:prstGeom>
          <a:solidFill>
            <a:schemeClr val="accent1"/>
          </a:solidFill>
          <a:ln/>
        </p:spPr>
        <p:txBody>
          <a:bodyPr/>
          <a:lstStyle/>
          <a:p>
            <a:endParaRPr lang="en-IN"/>
          </a:p>
        </p:txBody>
      </p:sp>
      <p:sp>
        <p:nvSpPr>
          <p:cNvPr id="19" name="Text 14"/>
          <p:cNvSpPr txBox="1"/>
          <p:nvPr/>
        </p:nvSpPr>
        <p:spPr>
          <a:xfrm>
            <a:off x="822960" y="5532120"/>
            <a:ext cx="10515600" cy="685800"/>
          </a:xfrm>
          <a:prstGeom prst="rect">
            <a:avLst/>
          </a:prstGeom>
          <a:noFill/>
          <a:ln/>
        </p:spPr>
        <p:txBody>
          <a:bodyPr wrap="square" lIns="0" tIns="0" rIns="0" bIns="0" rtlCol="0" anchor="ctr"/>
          <a:lstStyle/>
          <a:p>
            <a:pPr marL="0" indent="0">
              <a:buNone/>
            </a:pPr>
            <a:r>
              <a:rPr lang="en-US" sz="1600" b="1" dirty="0">
                <a:solidFill>
                  <a:schemeClr val="bg1"/>
                </a:solidFill>
                <a:latin typeface="Calibri" pitchFamily="34" charset="0"/>
                <a:ea typeface="Calibri" pitchFamily="34" charset="-122"/>
                <a:cs typeface="Calibri" pitchFamily="34" charset="-120"/>
              </a:rPr>
              <a:t>Subscribers do not spend more yet: $59.49 average vs. $59.87 for non-subscribers, with identical 3.75 ratings.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a:ln/>
        </p:spPr>
        <p:txBody>
          <a:bodyPr wrap="square" lIns="0" tIns="0" rIns="0" bIns="0" rtlCol="0" anchor="ctr"/>
          <a:lstStyle/>
          <a:p>
            <a:pPr marL="0" indent="0" algn="l">
              <a:buNone/>
            </a:pPr>
            <a:r>
              <a:rPr lang="en-US" sz="3600" b="1" dirty="0">
                <a:solidFill>
                  <a:schemeClr val="tx1"/>
                </a:solidFill>
              </a:rPr>
              <a:t>Customer Segmentation</a:t>
            </a:r>
            <a:endParaRPr lang="en-US" sz="3600" dirty="0"/>
          </a:p>
        </p:txBody>
      </p:sp>
      <p:sp>
        <p:nvSpPr>
          <p:cNvPr id="31"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9</a:t>
            </a:fld>
            <a:endParaRPr lang="en-US"/>
          </a:p>
        </p:txBody>
      </p:sp>
      <p:sp>
        <p:nvSpPr>
          <p:cNvPr id="3" name="Segment card Loyal"/>
          <p:cNvSpPr/>
          <p:nvPr/>
        </p:nvSpPr>
        <p:spPr>
          <a:xfrm>
            <a:off x="548640" y="1600200"/>
            <a:ext cx="11064240" cy="1188720"/>
          </a:xfrm>
          <a:prstGeom prst="roundRect">
            <a:avLst>
              <a:gd name="adj" fmla="val 9231"/>
            </a:avLst>
          </a:prstGeom>
          <a:solidFill>
            <a:schemeClr val="bg2"/>
          </a:solidFill>
          <a:ln/>
        </p:spPr>
        <p:txBody>
          <a:bodyPr/>
          <a:lstStyle/>
          <a:p>
            <a:endParaRPr lang="en-IN"/>
          </a:p>
        </p:txBody>
      </p:sp>
      <p:sp>
        <p:nvSpPr>
          <p:cNvPr id="4" name="Rank circle 1"/>
          <p:cNvSpPr/>
          <p:nvPr/>
        </p:nvSpPr>
        <p:spPr>
          <a:xfrm>
            <a:off x="822960" y="1874520"/>
            <a:ext cx="640080" cy="640080"/>
          </a:xfrm>
          <a:prstGeom prst="ellipse">
            <a:avLst/>
          </a:prstGeom>
          <a:solidFill>
            <a:schemeClr val="accent1"/>
          </a:solidFill>
          <a:ln/>
        </p:spPr>
        <p:txBody>
          <a:bodyPr/>
          <a:lstStyle/>
          <a:p>
            <a:endParaRPr lang="en-IN"/>
          </a:p>
        </p:txBody>
      </p:sp>
      <p:sp>
        <p:nvSpPr>
          <p:cNvPr id="5" name="Text 3"/>
          <p:cNvSpPr txBox="1"/>
          <p:nvPr/>
        </p:nvSpPr>
        <p:spPr>
          <a:xfrm>
            <a:off x="822960" y="187452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1737360" y="1801368"/>
            <a:ext cx="2926080" cy="411480"/>
          </a:xfrm>
          <a:prstGeom prst="rect">
            <a:avLst/>
          </a:prstGeom>
          <a:noFill/>
          <a:ln/>
        </p:spPr>
        <p:txBody>
          <a:bodyPr wrap="square" lIns="0" tIns="0" rIns="0" bIns="0" rtlCol="0" anchor="ctr"/>
          <a:lstStyle/>
          <a:p>
            <a:pPr marL="0" indent="0">
              <a:buNone/>
            </a:pPr>
            <a:r>
              <a:rPr lang="en-US" sz="2200" b="1" dirty="0">
                <a:solidFill>
                  <a:schemeClr val="tx1"/>
                </a:solidFill>
                <a:latin typeface="Cambria" pitchFamily="34" charset="0"/>
                <a:ea typeface="Cambria" pitchFamily="34" charset="-122"/>
                <a:cs typeface="Cambria" pitchFamily="34" charset="-120"/>
              </a:rPr>
              <a:t>Loyal</a:t>
            </a:r>
            <a:endParaRPr lang="en-US" sz="2200" dirty="0"/>
          </a:p>
        </p:txBody>
      </p:sp>
      <p:sp>
        <p:nvSpPr>
          <p:cNvPr id="7" name="Text 5"/>
          <p:cNvSpPr txBox="1"/>
          <p:nvPr/>
        </p:nvSpPr>
        <p:spPr>
          <a:xfrm>
            <a:off x="1737360" y="2258568"/>
            <a:ext cx="2926080" cy="365760"/>
          </a:xfrm>
          <a:prstGeom prst="rect">
            <a:avLst/>
          </a:prstGeom>
          <a:noFill/>
          <a:ln/>
        </p:spPr>
        <p:txBody>
          <a:bodyPr wrap="square" lIns="0" tIns="0" rIns="0" bIns="0" rtlCol="0" anchor="ctr"/>
          <a:lstStyle/>
          <a:p>
            <a:pPr marL="0" indent="0">
              <a:buNone/>
            </a:pPr>
            <a:r>
              <a:rPr lang="en-US" sz="1400" dirty="0">
                <a:solidFill>
                  <a:schemeClr val="accent4"/>
                </a:solidFill>
                <a:latin typeface="Calibri" pitchFamily="34" charset="0"/>
                <a:ea typeface="Calibri" pitchFamily="34" charset="-122"/>
                <a:cs typeface="Calibri" pitchFamily="34" charset="-120"/>
              </a:rPr>
              <a:t>More than 10 previous purchases</a:t>
            </a:r>
            <a:endParaRPr lang="en-US" sz="1400" dirty="0"/>
          </a:p>
        </p:txBody>
      </p:sp>
      <p:sp>
        <p:nvSpPr>
          <p:cNvPr id="8" name="Share track Loyal"/>
          <p:cNvSpPr/>
          <p:nvPr/>
        </p:nvSpPr>
        <p:spPr>
          <a:xfrm>
            <a:off x="4846320" y="2057400"/>
            <a:ext cx="4572000" cy="274320"/>
          </a:xfrm>
          <a:prstGeom prst="roundRect">
            <a:avLst>
              <a:gd name="adj" fmla="val 50000"/>
            </a:avLst>
          </a:prstGeom>
          <a:solidFill>
            <a:schemeClr val="accent3">
              <a:alpha val="45000"/>
            </a:schemeClr>
          </a:solidFill>
          <a:ln/>
        </p:spPr>
        <p:txBody>
          <a:bodyPr/>
          <a:lstStyle/>
          <a:p>
            <a:endParaRPr lang="en-IN"/>
          </a:p>
        </p:txBody>
      </p:sp>
      <p:sp>
        <p:nvSpPr>
          <p:cNvPr id="9" name="Share fill Loyal"/>
          <p:cNvSpPr/>
          <p:nvPr/>
        </p:nvSpPr>
        <p:spPr>
          <a:xfrm>
            <a:off x="4846320" y="2057400"/>
            <a:ext cx="3653028" cy="274320"/>
          </a:xfrm>
          <a:prstGeom prst="roundRect">
            <a:avLst>
              <a:gd name="adj" fmla="val 50000"/>
            </a:avLst>
          </a:prstGeom>
          <a:solidFill>
            <a:schemeClr val="accent1"/>
          </a:solidFill>
          <a:ln/>
        </p:spPr>
        <p:txBody>
          <a:bodyPr/>
          <a:lstStyle/>
          <a:p>
            <a:endParaRPr lang="en-IN"/>
          </a:p>
        </p:txBody>
      </p:sp>
      <p:sp>
        <p:nvSpPr>
          <p:cNvPr id="10" name="Text 8"/>
          <p:cNvSpPr txBox="1"/>
          <p:nvPr/>
        </p:nvSpPr>
        <p:spPr>
          <a:xfrm>
            <a:off x="9646920" y="1783080"/>
            <a:ext cx="1737360" cy="502920"/>
          </a:xfrm>
          <a:prstGeom prst="rect">
            <a:avLst/>
          </a:prstGeom>
          <a:noFill/>
          <a:ln/>
        </p:spPr>
        <p:txBody>
          <a:bodyPr wrap="square" lIns="0" tIns="0" rIns="0" bIns="0" rtlCol="0" anchor="ctr"/>
          <a:lstStyle/>
          <a:p>
            <a:pPr marL="0" indent="0" algn="r">
              <a:buNone/>
            </a:pPr>
            <a:r>
              <a:rPr lang="en-US" sz="3000" b="1" dirty="0">
                <a:solidFill>
                  <a:schemeClr val="tx1"/>
                </a:solidFill>
                <a:latin typeface="Cambria" pitchFamily="34" charset="0"/>
                <a:ea typeface="Cambria" pitchFamily="34" charset="-122"/>
                <a:cs typeface="Cambria" pitchFamily="34" charset="-120"/>
              </a:rPr>
              <a:t>79.9%</a:t>
            </a:r>
            <a:endParaRPr lang="en-US" sz="3000" dirty="0"/>
          </a:p>
        </p:txBody>
      </p:sp>
      <p:sp>
        <p:nvSpPr>
          <p:cNvPr id="11" name="Text 9"/>
          <p:cNvSpPr txBox="1"/>
          <p:nvPr/>
        </p:nvSpPr>
        <p:spPr>
          <a:xfrm>
            <a:off x="9646920" y="2313432"/>
            <a:ext cx="1737360" cy="320040"/>
          </a:xfrm>
          <a:prstGeom prst="rect">
            <a:avLst/>
          </a:prstGeom>
          <a:noFill/>
          <a:ln/>
        </p:spPr>
        <p:txBody>
          <a:bodyPr wrap="square" lIns="0" tIns="0" rIns="0" bIns="0" rtlCol="0" anchor="ctr"/>
          <a:lstStyle/>
          <a:p>
            <a:pPr marL="0" indent="0" algn="r">
              <a:buNone/>
            </a:pPr>
            <a:r>
              <a:rPr lang="en-US" sz="1400" dirty="0">
                <a:solidFill>
                  <a:schemeClr val="accent4"/>
                </a:solidFill>
                <a:latin typeface="Calibri" pitchFamily="34" charset="0"/>
                <a:ea typeface="Calibri" pitchFamily="34" charset="-122"/>
                <a:cs typeface="Calibri" pitchFamily="34" charset="-120"/>
              </a:rPr>
              <a:t>3,116 customers</a:t>
            </a:r>
            <a:endParaRPr lang="en-US" sz="1400" dirty="0"/>
          </a:p>
        </p:txBody>
      </p:sp>
      <p:sp>
        <p:nvSpPr>
          <p:cNvPr id="12" name="Segment card Returning"/>
          <p:cNvSpPr/>
          <p:nvPr/>
        </p:nvSpPr>
        <p:spPr>
          <a:xfrm>
            <a:off x="548640" y="2971800"/>
            <a:ext cx="11064240" cy="1188720"/>
          </a:xfrm>
          <a:prstGeom prst="roundRect">
            <a:avLst>
              <a:gd name="adj" fmla="val 9231"/>
            </a:avLst>
          </a:prstGeom>
          <a:solidFill>
            <a:schemeClr val="bg2"/>
          </a:solidFill>
          <a:ln/>
        </p:spPr>
        <p:txBody>
          <a:bodyPr/>
          <a:lstStyle/>
          <a:p>
            <a:endParaRPr lang="en-IN"/>
          </a:p>
        </p:txBody>
      </p:sp>
      <p:sp>
        <p:nvSpPr>
          <p:cNvPr id="13" name="Rank circle 2"/>
          <p:cNvSpPr/>
          <p:nvPr/>
        </p:nvSpPr>
        <p:spPr>
          <a:xfrm>
            <a:off x="822960" y="3246120"/>
            <a:ext cx="640080" cy="640080"/>
          </a:xfrm>
          <a:prstGeom prst="ellipse">
            <a:avLst/>
          </a:prstGeom>
          <a:solidFill>
            <a:schemeClr val="accent1"/>
          </a:solidFill>
          <a:ln/>
        </p:spPr>
        <p:txBody>
          <a:bodyPr/>
          <a:lstStyle/>
          <a:p>
            <a:endParaRPr lang="en-IN"/>
          </a:p>
        </p:txBody>
      </p:sp>
      <p:sp>
        <p:nvSpPr>
          <p:cNvPr id="14" name="Text 12"/>
          <p:cNvSpPr txBox="1"/>
          <p:nvPr/>
        </p:nvSpPr>
        <p:spPr>
          <a:xfrm>
            <a:off x="822960" y="324612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2</a:t>
            </a:r>
            <a:endParaRPr lang="en-US" sz="2000" dirty="0"/>
          </a:p>
        </p:txBody>
      </p:sp>
      <p:sp>
        <p:nvSpPr>
          <p:cNvPr id="15" name="Text 13"/>
          <p:cNvSpPr txBox="1"/>
          <p:nvPr/>
        </p:nvSpPr>
        <p:spPr>
          <a:xfrm>
            <a:off x="1737360" y="3172968"/>
            <a:ext cx="2926080" cy="411480"/>
          </a:xfrm>
          <a:prstGeom prst="rect">
            <a:avLst/>
          </a:prstGeom>
          <a:noFill/>
          <a:ln/>
        </p:spPr>
        <p:txBody>
          <a:bodyPr wrap="square" lIns="0" tIns="0" rIns="0" bIns="0" rtlCol="0" anchor="ctr"/>
          <a:lstStyle/>
          <a:p>
            <a:pPr marL="0" indent="0">
              <a:buNone/>
            </a:pPr>
            <a:r>
              <a:rPr lang="en-US" sz="2200" b="1" dirty="0">
                <a:solidFill>
                  <a:schemeClr val="tx1"/>
                </a:solidFill>
                <a:latin typeface="Cambria" pitchFamily="34" charset="0"/>
                <a:ea typeface="Cambria" pitchFamily="34" charset="-122"/>
                <a:cs typeface="Cambria" pitchFamily="34" charset="-120"/>
              </a:rPr>
              <a:t>Returning</a:t>
            </a:r>
            <a:endParaRPr lang="en-US" sz="2200" dirty="0"/>
          </a:p>
        </p:txBody>
      </p:sp>
      <p:sp>
        <p:nvSpPr>
          <p:cNvPr id="16" name="Text 14"/>
          <p:cNvSpPr txBox="1"/>
          <p:nvPr/>
        </p:nvSpPr>
        <p:spPr>
          <a:xfrm>
            <a:off x="1737360" y="3630168"/>
            <a:ext cx="2926080" cy="365760"/>
          </a:xfrm>
          <a:prstGeom prst="rect">
            <a:avLst/>
          </a:prstGeom>
          <a:noFill/>
          <a:ln/>
        </p:spPr>
        <p:txBody>
          <a:bodyPr wrap="square" lIns="0" tIns="0" rIns="0" bIns="0" rtlCol="0" anchor="ctr"/>
          <a:lstStyle/>
          <a:p>
            <a:pPr marL="0" indent="0">
              <a:buNone/>
            </a:pPr>
            <a:r>
              <a:rPr lang="en-US" sz="1400" dirty="0">
                <a:solidFill>
                  <a:schemeClr val="accent4"/>
                </a:solidFill>
                <a:latin typeface="Calibri" pitchFamily="34" charset="0"/>
                <a:ea typeface="Calibri" pitchFamily="34" charset="-122"/>
                <a:cs typeface="Calibri" pitchFamily="34" charset="-120"/>
              </a:rPr>
              <a:t>2 to 10 previous purchases</a:t>
            </a:r>
            <a:endParaRPr lang="en-US" sz="1400" dirty="0"/>
          </a:p>
        </p:txBody>
      </p:sp>
      <p:sp>
        <p:nvSpPr>
          <p:cNvPr id="17" name="Share track Returning"/>
          <p:cNvSpPr/>
          <p:nvPr/>
        </p:nvSpPr>
        <p:spPr>
          <a:xfrm>
            <a:off x="4846320" y="3429000"/>
            <a:ext cx="4572000" cy="274320"/>
          </a:xfrm>
          <a:prstGeom prst="roundRect">
            <a:avLst>
              <a:gd name="adj" fmla="val 50000"/>
            </a:avLst>
          </a:prstGeom>
          <a:solidFill>
            <a:schemeClr val="accent3">
              <a:alpha val="45000"/>
            </a:schemeClr>
          </a:solidFill>
          <a:ln/>
        </p:spPr>
        <p:txBody>
          <a:bodyPr/>
          <a:lstStyle/>
          <a:p>
            <a:endParaRPr lang="en-IN"/>
          </a:p>
        </p:txBody>
      </p:sp>
      <p:sp>
        <p:nvSpPr>
          <p:cNvPr id="18" name="Share fill Returning"/>
          <p:cNvSpPr/>
          <p:nvPr/>
        </p:nvSpPr>
        <p:spPr>
          <a:xfrm>
            <a:off x="4846320" y="3429000"/>
            <a:ext cx="822960" cy="274320"/>
          </a:xfrm>
          <a:prstGeom prst="roundRect">
            <a:avLst>
              <a:gd name="adj" fmla="val 50000"/>
            </a:avLst>
          </a:prstGeom>
          <a:solidFill>
            <a:schemeClr val="accent1"/>
          </a:solidFill>
          <a:ln/>
        </p:spPr>
        <p:txBody>
          <a:bodyPr/>
          <a:lstStyle/>
          <a:p>
            <a:endParaRPr lang="en-IN"/>
          </a:p>
        </p:txBody>
      </p:sp>
      <p:sp>
        <p:nvSpPr>
          <p:cNvPr id="19" name="Text 17"/>
          <p:cNvSpPr txBox="1"/>
          <p:nvPr/>
        </p:nvSpPr>
        <p:spPr>
          <a:xfrm>
            <a:off x="9646920" y="3154680"/>
            <a:ext cx="1737360" cy="502920"/>
          </a:xfrm>
          <a:prstGeom prst="rect">
            <a:avLst/>
          </a:prstGeom>
          <a:noFill/>
          <a:ln/>
        </p:spPr>
        <p:txBody>
          <a:bodyPr wrap="square" lIns="0" tIns="0" rIns="0" bIns="0" rtlCol="0" anchor="ctr"/>
          <a:lstStyle/>
          <a:p>
            <a:pPr marL="0" indent="0" algn="r">
              <a:buNone/>
            </a:pPr>
            <a:r>
              <a:rPr lang="en-US" sz="3000" b="1" dirty="0">
                <a:solidFill>
                  <a:schemeClr val="tx1"/>
                </a:solidFill>
                <a:latin typeface="Cambria" pitchFamily="34" charset="0"/>
                <a:ea typeface="Cambria" pitchFamily="34" charset="-122"/>
                <a:cs typeface="Cambria" pitchFamily="34" charset="-120"/>
              </a:rPr>
              <a:t>18.0%</a:t>
            </a:r>
            <a:endParaRPr lang="en-US" sz="3000" dirty="0"/>
          </a:p>
        </p:txBody>
      </p:sp>
      <p:sp>
        <p:nvSpPr>
          <p:cNvPr id="20" name="Text 18"/>
          <p:cNvSpPr txBox="1"/>
          <p:nvPr/>
        </p:nvSpPr>
        <p:spPr>
          <a:xfrm>
            <a:off x="9646920" y="3685032"/>
            <a:ext cx="1737360" cy="320040"/>
          </a:xfrm>
          <a:prstGeom prst="rect">
            <a:avLst/>
          </a:prstGeom>
          <a:noFill/>
          <a:ln/>
        </p:spPr>
        <p:txBody>
          <a:bodyPr wrap="square" lIns="0" tIns="0" rIns="0" bIns="0" rtlCol="0" anchor="ctr"/>
          <a:lstStyle/>
          <a:p>
            <a:pPr marL="0" indent="0" algn="r">
              <a:buNone/>
            </a:pPr>
            <a:r>
              <a:rPr lang="en-US" sz="1400" dirty="0">
                <a:solidFill>
                  <a:schemeClr val="accent4"/>
                </a:solidFill>
                <a:latin typeface="Calibri" pitchFamily="34" charset="0"/>
                <a:ea typeface="Calibri" pitchFamily="34" charset="-122"/>
                <a:cs typeface="Calibri" pitchFamily="34" charset="-120"/>
              </a:rPr>
              <a:t>701 customers</a:t>
            </a:r>
            <a:endParaRPr lang="en-US" sz="1400" dirty="0"/>
          </a:p>
        </p:txBody>
      </p:sp>
      <p:sp>
        <p:nvSpPr>
          <p:cNvPr id="21" name="Segment card New"/>
          <p:cNvSpPr/>
          <p:nvPr/>
        </p:nvSpPr>
        <p:spPr>
          <a:xfrm>
            <a:off x="548640" y="4343400"/>
            <a:ext cx="11064240" cy="1188720"/>
          </a:xfrm>
          <a:prstGeom prst="roundRect">
            <a:avLst>
              <a:gd name="adj" fmla="val 9231"/>
            </a:avLst>
          </a:prstGeom>
          <a:solidFill>
            <a:schemeClr val="bg2"/>
          </a:solidFill>
          <a:ln/>
        </p:spPr>
        <p:txBody>
          <a:bodyPr/>
          <a:lstStyle/>
          <a:p>
            <a:endParaRPr lang="en-IN"/>
          </a:p>
        </p:txBody>
      </p:sp>
      <p:sp>
        <p:nvSpPr>
          <p:cNvPr id="22" name="Rank circle 3"/>
          <p:cNvSpPr/>
          <p:nvPr/>
        </p:nvSpPr>
        <p:spPr>
          <a:xfrm>
            <a:off x="822960" y="4617720"/>
            <a:ext cx="640080" cy="640080"/>
          </a:xfrm>
          <a:prstGeom prst="ellipse">
            <a:avLst/>
          </a:prstGeom>
          <a:solidFill>
            <a:schemeClr val="accent1"/>
          </a:solidFill>
          <a:ln/>
        </p:spPr>
        <p:txBody>
          <a:bodyPr/>
          <a:lstStyle/>
          <a:p>
            <a:endParaRPr lang="en-IN"/>
          </a:p>
        </p:txBody>
      </p:sp>
      <p:sp>
        <p:nvSpPr>
          <p:cNvPr id="23" name="Text 21"/>
          <p:cNvSpPr txBox="1"/>
          <p:nvPr/>
        </p:nvSpPr>
        <p:spPr>
          <a:xfrm>
            <a:off x="822960" y="461772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3</a:t>
            </a:r>
            <a:endParaRPr lang="en-US" sz="2000" dirty="0"/>
          </a:p>
        </p:txBody>
      </p:sp>
      <p:sp>
        <p:nvSpPr>
          <p:cNvPr id="24" name="Text 22"/>
          <p:cNvSpPr txBox="1"/>
          <p:nvPr/>
        </p:nvSpPr>
        <p:spPr>
          <a:xfrm>
            <a:off x="1737360" y="4544568"/>
            <a:ext cx="2926080" cy="411480"/>
          </a:xfrm>
          <a:prstGeom prst="rect">
            <a:avLst/>
          </a:prstGeom>
          <a:noFill/>
          <a:ln/>
        </p:spPr>
        <p:txBody>
          <a:bodyPr wrap="square" lIns="0" tIns="0" rIns="0" bIns="0" rtlCol="0" anchor="ctr"/>
          <a:lstStyle/>
          <a:p>
            <a:pPr marL="0" indent="0">
              <a:buNone/>
            </a:pPr>
            <a:r>
              <a:rPr lang="en-US" sz="2200" b="1" dirty="0">
                <a:solidFill>
                  <a:schemeClr val="tx1"/>
                </a:solidFill>
                <a:latin typeface="Cambria" pitchFamily="34" charset="0"/>
                <a:ea typeface="Cambria" pitchFamily="34" charset="-122"/>
                <a:cs typeface="Cambria" pitchFamily="34" charset="-120"/>
              </a:rPr>
              <a:t>New</a:t>
            </a:r>
            <a:endParaRPr lang="en-US" sz="2200" dirty="0"/>
          </a:p>
        </p:txBody>
      </p:sp>
      <p:sp>
        <p:nvSpPr>
          <p:cNvPr id="25" name="Text 23"/>
          <p:cNvSpPr txBox="1"/>
          <p:nvPr/>
        </p:nvSpPr>
        <p:spPr>
          <a:xfrm>
            <a:off x="1737360" y="5001768"/>
            <a:ext cx="2926080" cy="365760"/>
          </a:xfrm>
          <a:prstGeom prst="rect">
            <a:avLst/>
          </a:prstGeom>
          <a:noFill/>
          <a:ln/>
        </p:spPr>
        <p:txBody>
          <a:bodyPr wrap="square" lIns="0" tIns="0" rIns="0" bIns="0" rtlCol="0" anchor="ctr"/>
          <a:lstStyle/>
          <a:p>
            <a:pPr marL="0" indent="0">
              <a:buNone/>
            </a:pPr>
            <a:r>
              <a:rPr lang="en-US" sz="1400" dirty="0">
                <a:solidFill>
                  <a:schemeClr val="accent4"/>
                </a:solidFill>
                <a:latin typeface="Calibri" pitchFamily="34" charset="0"/>
                <a:ea typeface="Calibri" pitchFamily="34" charset="-122"/>
                <a:cs typeface="Calibri" pitchFamily="34" charset="-120"/>
              </a:rPr>
              <a:t>1 previous purchase</a:t>
            </a:r>
            <a:endParaRPr lang="en-US" sz="1400" dirty="0"/>
          </a:p>
        </p:txBody>
      </p:sp>
      <p:sp>
        <p:nvSpPr>
          <p:cNvPr id="26" name="Share track New"/>
          <p:cNvSpPr/>
          <p:nvPr/>
        </p:nvSpPr>
        <p:spPr>
          <a:xfrm>
            <a:off x="4846320" y="4800600"/>
            <a:ext cx="4572000" cy="274320"/>
          </a:xfrm>
          <a:prstGeom prst="roundRect">
            <a:avLst>
              <a:gd name="adj" fmla="val 50000"/>
            </a:avLst>
          </a:prstGeom>
          <a:solidFill>
            <a:schemeClr val="accent3">
              <a:alpha val="45000"/>
            </a:schemeClr>
          </a:solidFill>
          <a:ln/>
        </p:spPr>
        <p:txBody>
          <a:bodyPr/>
          <a:lstStyle/>
          <a:p>
            <a:endParaRPr lang="en-IN"/>
          </a:p>
        </p:txBody>
      </p:sp>
      <p:sp>
        <p:nvSpPr>
          <p:cNvPr id="27" name="Share fill New"/>
          <p:cNvSpPr/>
          <p:nvPr/>
        </p:nvSpPr>
        <p:spPr>
          <a:xfrm>
            <a:off x="4846320" y="4800600"/>
            <a:ext cx="274320" cy="274320"/>
          </a:xfrm>
          <a:prstGeom prst="roundRect">
            <a:avLst>
              <a:gd name="adj" fmla="val 50000"/>
            </a:avLst>
          </a:prstGeom>
          <a:solidFill>
            <a:schemeClr val="accent1"/>
          </a:solidFill>
          <a:ln/>
        </p:spPr>
        <p:txBody>
          <a:bodyPr/>
          <a:lstStyle/>
          <a:p>
            <a:endParaRPr lang="en-IN"/>
          </a:p>
        </p:txBody>
      </p:sp>
      <p:sp>
        <p:nvSpPr>
          <p:cNvPr id="28" name="Text 26"/>
          <p:cNvSpPr txBox="1"/>
          <p:nvPr/>
        </p:nvSpPr>
        <p:spPr>
          <a:xfrm>
            <a:off x="9646920" y="4526280"/>
            <a:ext cx="1737360" cy="502920"/>
          </a:xfrm>
          <a:prstGeom prst="rect">
            <a:avLst/>
          </a:prstGeom>
          <a:noFill/>
          <a:ln/>
        </p:spPr>
        <p:txBody>
          <a:bodyPr wrap="square" lIns="0" tIns="0" rIns="0" bIns="0" rtlCol="0" anchor="ctr"/>
          <a:lstStyle/>
          <a:p>
            <a:pPr marL="0" indent="0" algn="r">
              <a:buNone/>
            </a:pPr>
            <a:r>
              <a:rPr lang="en-US" sz="3000" b="1" dirty="0">
                <a:solidFill>
                  <a:schemeClr val="tx1"/>
                </a:solidFill>
                <a:latin typeface="Cambria" pitchFamily="34" charset="0"/>
                <a:ea typeface="Cambria" pitchFamily="34" charset="-122"/>
                <a:cs typeface="Cambria" pitchFamily="34" charset="-120"/>
              </a:rPr>
              <a:t>2.1%</a:t>
            </a:r>
            <a:endParaRPr lang="en-US" sz="3000" dirty="0"/>
          </a:p>
        </p:txBody>
      </p:sp>
      <p:sp>
        <p:nvSpPr>
          <p:cNvPr id="29" name="Text 27"/>
          <p:cNvSpPr txBox="1"/>
          <p:nvPr/>
        </p:nvSpPr>
        <p:spPr>
          <a:xfrm>
            <a:off x="9646920" y="5056632"/>
            <a:ext cx="1737360" cy="320040"/>
          </a:xfrm>
          <a:prstGeom prst="rect">
            <a:avLst/>
          </a:prstGeom>
          <a:noFill/>
          <a:ln/>
        </p:spPr>
        <p:txBody>
          <a:bodyPr wrap="square" lIns="0" tIns="0" rIns="0" bIns="0" rtlCol="0" anchor="ctr"/>
          <a:lstStyle/>
          <a:p>
            <a:pPr marL="0" indent="0" algn="r">
              <a:buNone/>
            </a:pPr>
            <a:r>
              <a:rPr lang="en-US" sz="1400" dirty="0">
                <a:solidFill>
                  <a:schemeClr val="accent4"/>
                </a:solidFill>
                <a:latin typeface="Calibri" pitchFamily="34" charset="0"/>
                <a:ea typeface="Calibri" pitchFamily="34" charset="-122"/>
                <a:cs typeface="Calibri" pitchFamily="34" charset="-120"/>
              </a:rPr>
              <a:t>83 customers</a:t>
            </a:r>
            <a:endParaRPr lang="en-US" sz="1400" dirty="0"/>
          </a:p>
        </p:txBody>
      </p:sp>
      <p:sp>
        <p:nvSpPr>
          <p:cNvPr id="30" name="Text 28"/>
          <p:cNvSpPr txBox="1"/>
          <p:nvPr/>
        </p:nvSpPr>
        <p:spPr>
          <a:xfrm>
            <a:off x="548640" y="5806440"/>
            <a:ext cx="11064240" cy="457200"/>
          </a:xfrm>
          <a:prstGeom prst="rect">
            <a:avLst/>
          </a:prstGeom>
          <a:noFill/>
          <a:ln/>
        </p:spPr>
        <p:txBody>
          <a:bodyPr wrap="square" lIns="0" tIns="0" rIns="0" bIns="0" rtlCol="0" anchor="ctr"/>
          <a:lstStyle/>
          <a:p>
            <a:pPr marL="0" indent="0">
              <a:buNone/>
            </a:pPr>
            <a:r>
              <a:rPr lang="en-US" sz="1600" b="1" dirty="0">
                <a:solidFill>
                  <a:schemeClr val="accent2"/>
                </a:solidFill>
                <a:latin typeface="Calibri" pitchFamily="34" charset="0"/>
                <a:ea typeface="Calibri" pitchFamily="34" charset="-122"/>
                <a:cs typeface="Calibri" pitchFamily="34" charset="-120"/>
              </a:rPr>
              <a:t>Focus: move Returning customers up to Loyal and grow the small New customer base.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a:ln/>
        </p:spPr>
        <p:txBody>
          <a:bodyPr wrap="square" lIns="0" tIns="0" rIns="0" bIns="0" rtlCol="0" anchor="ctr"/>
          <a:lstStyle/>
          <a:p>
            <a:pPr marL="0" indent="0" algn="l">
              <a:buNone/>
            </a:pPr>
            <a:r>
              <a:rPr lang="en-US" sz="3600" b="1" dirty="0">
                <a:solidFill>
                  <a:schemeClr val="tx1"/>
                </a:solidFill>
              </a:rPr>
              <a:t>Category and Seasonal Performance</a:t>
            </a:r>
            <a:endParaRPr lang="en-US" sz="3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10</a:t>
            </a:fld>
            <a:endParaRPr lang="en-US"/>
          </a:p>
        </p:txBody>
      </p:sp>
      <p:graphicFrame>
        <p:nvGraphicFramePr>
          <p:cNvPr id="3" name="Chart 0"/>
          <p:cNvGraphicFramePr/>
          <p:nvPr/>
        </p:nvGraphicFramePr>
        <p:xfrm>
          <a:off x="548640" y="1463040"/>
          <a:ext cx="5486400" cy="38404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1"/>
          <p:cNvGraphicFramePr/>
          <p:nvPr/>
        </p:nvGraphicFramePr>
        <p:xfrm>
          <a:off x="6217920" y="1463040"/>
          <a:ext cx="5394960" cy="3840480"/>
        </p:xfrm>
        <a:graphic>
          <a:graphicData uri="http://schemas.openxmlformats.org/drawingml/2006/chart">
            <c:chart xmlns:c="http://schemas.openxmlformats.org/drawingml/2006/chart" xmlns:r="http://schemas.openxmlformats.org/officeDocument/2006/relationships" r:id="rId4"/>
          </a:graphicData>
        </a:graphic>
      </p:graphicFrame>
      <p:sp>
        <p:nvSpPr>
          <p:cNvPr id="5" name="Takeaway card"/>
          <p:cNvSpPr/>
          <p:nvPr/>
        </p:nvSpPr>
        <p:spPr>
          <a:xfrm>
            <a:off x="548640" y="5486400"/>
            <a:ext cx="11064240" cy="731520"/>
          </a:xfrm>
          <a:prstGeom prst="roundRect">
            <a:avLst>
              <a:gd name="adj" fmla="val 15000"/>
            </a:avLst>
          </a:prstGeom>
          <a:solidFill>
            <a:schemeClr val="bg2"/>
          </a:solidFill>
          <a:ln/>
        </p:spPr>
        <p:txBody>
          <a:bodyPr/>
          <a:lstStyle/>
          <a:p>
            <a:endParaRPr lang="en-IN"/>
          </a:p>
        </p:txBody>
      </p:sp>
      <p:sp>
        <p:nvSpPr>
          <p:cNvPr id="6" name="Text 2"/>
          <p:cNvSpPr txBox="1"/>
          <p:nvPr/>
        </p:nvSpPr>
        <p:spPr>
          <a:xfrm>
            <a:off x="822960" y="5486400"/>
            <a:ext cx="10515600" cy="731520"/>
          </a:xfrm>
          <a:prstGeom prst="rect">
            <a:avLst/>
          </a:prstGeom>
          <a:noFill/>
          <a:ln/>
        </p:spPr>
        <p:txBody>
          <a:bodyPr wrap="square" lIns="0" tIns="0" rIns="0" bIns="0"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Clothing earns 44.7% of revenue; Outerwear only 7.9%. Fall is the strongest season on both revenue and average purchase ($61.56).</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a:ln/>
        </p:spPr>
        <p:txBody>
          <a:bodyPr wrap="square" lIns="0" tIns="0" rIns="0" bIns="0" rtlCol="0" anchor="ctr"/>
          <a:lstStyle/>
          <a:p>
            <a:pPr marL="0" indent="0" algn="l">
              <a:buNone/>
            </a:pPr>
            <a:r>
              <a:rPr lang="en-US" sz="3600" b="1" dirty="0">
                <a:solidFill>
                  <a:schemeClr val="tx1"/>
                </a:solidFill>
              </a:rPr>
              <a:t>Strategic Recommendations</a:t>
            </a:r>
            <a:endParaRPr lang="en-US" sz="3600" dirty="0"/>
          </a:p>
        </p:txBody>
      </p:sp>
      <p:sp>
        <p:nvSpPr>
          <p:cNvPr id="33"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11</a:t>
            </a:fld>
            <a:endParaRPr lang="en-US"/>
          </a:p>
        </p:txBody>
      </p:sp>
      <p:sp>
        <p:nvSpPr>
          <p:cNvPr id="3" name="Recommendation card 1"/>
          <p:cNvSpPr/>
          <p:nvPr/>
        </p:nvSpPr>
        <p:spPr>
          <a:xfrm>
            <a:off x="548640" y="1508760"/>
            <a:ext cx="3566160" cy="2240280"/>
          </a:xfrm>
          <a:prstGeom prst="roundRect">
            <a:avLst>
              <a:gd name="adj" fmla="val 4898"/>
            </a:avLst>
          </a:prstGeom>
          <a:solidFill>
            <a:schemeClr val="bg2"/>
          </a:solidFill>
          <a:ln/>
        </p:spPr>
        <p:txBody>
          <a:bodyPr/>
          <a:lstStyle/>
          <a:p>
            <a:endParaRPr lang="en-IN"/>
          </a:p>
        </p:txBody>
      </p:sp>
      <p:sp>
        <p:nvSpPr>
          <p:cNvPr id="4" name="Recommendation icon 1 circle"/>
          <p:cNvSpPr/>
          <p:nvPr/>
        </p:nvSpPr>
        <p:spPr>
          <a:xfrm>
            <a:off x="868680" y="1828800"/>
            <a:ext cx="640080" cy="640080"/>
          </a:xfrm>
          <a:prstGeom prst="ellipse">
            <a:avLst/>
          </a:prstGeom>
          <a:solidFill>
            <a:schemeClr val="accent1"/>
          </a:solidFill>
          <a:ln/>
        </p:spPr>
        <p:txBody>
          <a:bodyPr/>
          <a:lstStyle/>
          <a:p>
            <a:endParaRPr lang="en-IN"/>
          </a:p>
        </p:txBody>
      </p:sp>
      <p:pic>
        <p:nvPicPr>
          <p:cNvPr id="5" name="Image 0" descr="Recommendation icon 1"/>
          <p:cNvPicPr>
            <a:picLocks noChangeAspect="1"/>
          </p:cNvPicPr>
          <p:nvPr/>
        </p:nvPicPr>
        <p:blipFill>
          <a:blip r:embed="rId3"/>
          <a:stretch>
            <a:fillRect/>
          </a:stretch>
        </p:blipFill>
        <p:spPr>
          <a:xfrm>
            <a:off x="1035101" y="1995221"/>
            <a:ext cx="307238" cy="307238"/>
          </a:xfrm>
          <a:prstGeom prst="rect">
            <a:avLst/>
          </a:prstGeom>
        </p:spPr>
      </p:pic>
      <p:sp>
        <p:nvSpPr>
          <p:cNvPr id="6" name="Text 3"/>
          <p:cNvSpPr txBox="1"/>
          <p:nvPr/>
        </p:nvSpPr>
        <p:spPr>
          <a:xfrm>
            <a:off x="868680" y="2606040"/>
            <a:ext cx="2926080" cy="4114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Boost Subscriptions</a:t>
            </a:r>
            <a:endParaRPr lang="en-US" sz="2000" dirty="0"/>
          </a:p>
        </p:txBody>
      </p:sp>
      <p:sp>
        <p:nvSpPr>
          <p:cNvPr id="7" name="Text 4"/>
          <p:cNvSpPr txBox="1"/>
          <p:nvPr/>
        </p:nvSpPr>
        <p:spPr>
          <a:xfrm>
            <a:off x="868680" y="3063240"/>
            <a:ext cx="2926080" cy="594360"/>
          </a:xfrm>
          <a:prstGeom prst="rect">
            <a:avLst/>
          </a:prstGeom>
          <a:noFill/>
          <a:ln/>
        </p:spPr>
        <p:txBody>
          <a:bodyPr wrap="square" lIns="0" tIns="0" rIns="0" bIns="0" rtlCol="0" anchor="t"/>
          <a:lstStyle/>
          <a:p>
            <a:pPr marL="0" indent="0">
              <a:buNone/>
            </a:pPr>
            <a:r>
              <a:rPr lang="en-US" sz="1400" dirty="0">
                <a:solidFill>
                  <a:schemeClr val="accent4"/>
                </a:solidFill>
                <a:latin typeface="Calibri" pitchFamily="34" charset="0"/>
                <a:ea typeface="Calibri" pitchFamily="34" charset="-122"/>
                <a:cs typeface="Calibri" pitchFamily="34" charset="-120"/>
              </a:rPr>
              <a:t>Add benefits that raise spend, then A/B test them</a:t>
            </a:r>
            <a:endParaRPr lang="en-US" sz="1400" dirty="0"/>
          </a:p>
        </p:txBody>
      </p:sp>
      <p:sp>
        <p:nvSpPr>
          <p:cNvPr id="8" name="Recommendation card 2"/>
          <p:cNvSpPr/>
          <p:nvPr/>
        </p:nvSpPr>
        <p:spPr>
          <a:xfrm>
            <a:off x="4297680" y="1508760"/>
            <a:ext cx="3566160" cy="2240280"/>
          </a:xfrm>
          <a:prstGeom prst="roundRect">
            <a:avLst>
              <a:gd name="adj" fmla="val 4898"/>
            </a:avLst>
          </a:prstGeom>
          <a:solidFill>
            <a:schemeClr val="bg2"/>
          </a:solidFill>
          <a:ln/>
        </p:spPr>
        <p:txBody>
          <a:bodyPr/>
          <a:lstStyle/>
          <a:p>
            <a:endParaRPr lang="en-IN"/>
          </a:p>
        </p:txBody>
      </p:sp>
      <p:sp>
        <p:nvSpPr>
          <p:cNvPr id="9" name="Recommendation icon 2 circle"/>
          <p:cNvSpPr/>
          <p:nvPr/>
        </p:nvSpPr>
        <p:spPr>
          <a:xfrm>
            <a:off x="4617720" y="1828800"/>
            <a:ext cx="640080" cy="640080"/>
          </a:xfrm>
          <a:prstGeom prst="ellipse">
            <a:avLst/>
          </a:prstGeom>
          <a:solidFill>
            <a:schemeClr val="accent1"/>
          </a:solidFill>
          <a:ln/>
        </p:spPr>
        <p:txBody>
          <a:bodyPr/>
          <a:lstStyle/>
          <a:p>
            <a:endParaRPr lang="en-IN"/>
          </a:p>
        </p:txBody>
      </p:sp>
      <p:pic>
        <p:nvPicPr>
          <p:cNvPr id="10" name="Image 1" descr="Recommendation icon 2"/>
          <p:cNvPicPr>
            <a:picLocks noChangeAspect="1"/>
          </p:cNvPicPr>
          <p:nvPr/>
        </p:nvPicPr>
        <p:blipFill>
          <a:blip r:embed="rId4"/>
          <a:stretch>
            <a:fillRect/>
          </a:stretch>
        </p:blipFill>
        <p:spPr>
          <a:xfrm>
            <a:off x="4784141" y="1995221"/>
            <a:ext cx="307238" cy="307238"/>
          </a:xfrm>
          <a:prstGeom prst="rect">
            <a:avLst/>
          </a:prstGeom>
        </p:spPr>
      </p:pic>
      <p:sp>
        <p:nvSpPr>
          <p:cNvPr id="11" name="Text 7"/>
          <p:cNvSpPr txBox="1"/>
          <p:nvPr/>
        </p:nvSpPr>
        <p:spPr>
          <a:xfrm>
            <a:off x="4617720" y="2606040"/>
            <a:ext cx="2926080" cy="4114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Loyalty Programs</a:t>
            </a:r>
            <a:endParaRPr lang="en-US" sz="2000" dirty="0"/>
          </a:p>
        </p:txBody>
      </p:sp>
      <p:sp>
        <p:nvSpPr>
          <p:cNvPr id="12" name="Text 8"/>
          <p:cNvSpPr txBox="1"/>
          <p:nvPr/>
        </p:nvSpPr>
        <p:spPr>
          <a:xfrm>
            <a:off x="4617720" y="3063240"/>
            <a:ext cx="2926080" cy="594360"/>
          </a:xfrm>
          <a:prstGeom prst="rect">
            <a:avLst/>
          </a:prstGeom>
          <a:noFill/>
          <a:ln/>
        </p:spPr>
        <p:txBody>
          <a:bodyPr wrap="square" lIns="0" tIns="0" rIns="0" bIns="0" rtlCol="0" anchor="t"/>
          <a:lstStyle/>
          <a:p>
            <a:pPr marL="0" indent="0">
              <a:buNone/>
            </a:pPr>
            <a:r>
              <a:rPr lang="en-US" sz="1400" dirty="0">
                <a:solidFill>
                  <a:schemeClr val="accent4"/>
                </a:solidFill>
                <a:latin typeface="Calibri" pitchFamily="34" charset="0"/>
                <a:ea typeface="Calibri" pitchFamily="34" charset="-122"/>
                <a:cs typeface="Calibri" pitchFamily="34" charset="-120"/>
              </a:rPr>
              <a:t>Reward the 701 Returning customers to move them up</a:t>
            </a:r>
            <a:endParaRPr lang="en-US" sz="1400" dirty="0"/>
          </a:p>
        </p:txBody>
      </p:sp>
      <p:sp>
        <p:nvSpPr>
          <p:cNvPr id="13" name="Recommendation card 3"/>
          <p:cNvSpPr/>
          <p:nvPr/>
        </p:nvSpPr>
        <p:spPr>
          <a:xfrm>
            <a:off x="8046720" y="1508760"/>
            <a:ext cx="3566160" cy="2240280"/>
          </a:xfrm>
          <a:prstGeom prst="roundRect">
            <a:avLst>
              <a:gd name="adj" fmla="val 4898"/>
            </a:avLst>
          </a:prstGeom>
          <a:solidFill>
            <a:schemeClr val="bg2"/>
          </a:solidFill>
          <a:ln/>
        </p:spPr>
        <p:txBody>
          <a:bodyPr/>
          <a:lstStyle/>
          <a:p>
            <a:endParaRPr lang="en-IN"/>
          </a:p>
        </p:txBody>
      </p:sp>
      <p:sp>
        <p:nvSpPr>
          <p:cNvPr id="14" name="Recommendation icon 3 circle"/>
          <p:cNvSpPr/>
          <p:nvPr/>
        </p:nvSpPr>
        <p:spPr>
          <a:xfrm>
            <a:off x="8366760" y="1828800"/>
            <a:ext cx="640080" cy="640080"/>
          </a:xfrm>
          <a:prstGeom prst="ellipse">
            <a:avLst/>
          </a:prstGeom>
          <a:solidFill>
            <a:schemeClr val="accent1"/>
          </a:solidFill>
          <a:ln/>
        </p:spPr>
        <p:txBody>
          <a:bodyPr/>
          <a:lstStyle/>
          <a:p>
            <a:endParaRPr lang="en-IN"/>
          </a:p>
        </p:txBody>
      </p:sp>
      <p:pic>
        <p:nvPicPr>
          <p:cNvPr id="15" name="Image 2" descr="Recommendation icon 3"/>
          <p:cNvPicPr>
            <a:picLocks noChangeAspect="1"/>
          </p:cNvPicPr>
          <p:nvPr/>
        </p:nvPicPr>
        <p:blipFill>
          <a:blip r:embed="rId5"/>
          <a:stretch>
            <a:fillRect/>
          </a:stretch>
        </p:blipFill>
        <p:spPr>
          <a:xfrm>
            <a:off x="8533181" y="1995221"/>
            <a:ext cx="307238" cy="307238"/>
          </a:xfrm>
          <a:prstGeom prst="rect">
            <a:avLst/>
          </a:prstGeom>
        </p:spPr>
      </p:pic>
      <p:sp>
        <p:nvSpPr>
          <p:cNvPr id="16" name="Text 11"/>
          <p:cNvSpPr txBox="1"/>
          <p:nvPr/>
        </p:nvSpPr>
        <p:spPr>
          <a:xfrm>
            <a:off x="8366760" y="2606040"/>
            <a:ext cx="2926080" cy="4114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Review Discounts</a:t>
            </a:r>
            <a:endParaRPr lang="en-US" sz="2000" dirty="0"/>
          </a:p>
        </p:txBody>
      </p:sp>
      <p:sp>
        <p:nvSpPr>
          <p:cNvPr id="17" name="Text 12"/>
          <p:cNvSpPr txBox="1"/>
          <p:nvPr/>
        </p:nvSpPr>
        <p:spPr>
          <a:xfrm>
            <a:off x="8366760" y="3063240"/>
            <a:ext cx="2926080" cy="594360"/>
          </a:xfrm>
          <a:prstGeom prst="rect">
            <a:avLst/>
          </a:prstGeom>
          <a:noFill/>
          <a:ln/>
        </p:spPr>
        <p:txBody>
          <a:bodyPr wrap="square" lIns="0" tIns="0" rIns="0" bIns="0" rtlCol="0" anchor="t"/>
          <a:lstStyle/>
          <a:p>
            <a:pPr marL="0" indent="0">
              <a:buNone/>
            </a:pPr>
            <a:r>
              <a:rPr lang="en-US" sz="1400" dirty="0">
                <a:solidFill>
                  <a:schemeClr val="accent4"/>
                </a:solidFill>
                <a:latin typeface="Calibri" pitchFamily="34" charset="0"/>
                <a:ea typeface="Calibri" pitchFamily="34" charset="-122"/>
                <a:cs typeface="Calibri" pitchFamily="34" charset="-120"/>
              </a:rPr>
              <a:t>Test lower discounts on Hat, Sneakers, Coat and Sweater</a:t>
            </a:r>
            <a:endParaRPr lang="en-US" sz="1400" dirty="0"/>
          </a:p>
        </p:txBody>
      </p:sp>
      <p:sp>
        <p:nvSpPr>
          <p:cNvPr id="18" name="Recommendation card 4"/>
          <p:cNvSpPr/>
          <p:nvPr/>
        </p:nvSpPr>
        <p:spPr>
          <a:xfrm>
            <a:off x="548640" y="3931920"/>
            <a:ext cx="3566160" cy="2240280"/>
          </a:xfrm>
          <a:prstGeom prst="roundRect">
            <a:avLst>
              <a:gd name="adj" fmla="val 4898"/>
            </a:avLst>
          </a:prstGeom>
          <a:solidFill>
            <a:schemeClr val="bg2"/>
          </a:solidFill>
          <a:ln/>
        </p:spPr>
        <p:txBody>
          <a:bodyPr/>
          <a:lstStyle/>
          <a:p>
            <a:endParaRPr lang="en-IN"/>
          </a:p>
        </p:txBody>
      </p:sp>
      <p:sp>
        <p:nvSpPr>
          <p:cNvPr id="19" name="Recommendation icon 4 circle"/>
          <p:cNvSpPr/>
          <p:nvPr/>
        </p:nvSpPr>
        <p:spPr>
          <a:xfrm>
            <a:off x="868680" y="4251960"/>
            <a:ext cx="640080" cy="640080"/>
          </a:xfrm>
          <a:prstGeom prst="ellipse">
            <a:avLst/>
          </a:prstGeom>
          <a:solidFill>
            <a:schemeClr val="accent1"/>
          </a:solidFill>
          <a:ln/>
        </p:spPr>
        <p:txBody>
          <a:bodyPr/>
          <a:lstStyle/>
          <a:p>
            <a:endParaRPr lang="en-IN"/>
          </a:p>
        </p:txBody>
      </p:sp>
      <p:pic>
        <p:nvPicPr>
          <p:cNvPr id="20" name="Image 3" descr="Recommendation icon 4"/>
          <p:cNvPicPr>
            <a:picLocks noChangeAspect="1"/>
          </p:cNvPicPr>
          <p:nvPr/>
        </p:nvPicPr>
        <p:blipFill>
          <a:blip r:embed="rId6"/>
          <a:stretch>
            <a:fillRect/>
          </a:stretch>
        </p:blipFill>
        <p:spPr>
          <a:xfrm>
            <a:off x="1035101" y="4418381"/>
            <a:ext cx="307238" cy="307238"/>
          </a:xfrm>
          <a:prstGeom prst="rect">
            <a:avLst/>
          </a:prstGeom>
        </p:spPr>
      </p:pic>
      <p:sp>
        <p:nvSpPr>
          <p:cNvPr id="21" name="Text 15"/>
          <p:cNvSpPr txBox="1"/>
          <p:nvPr/>
        </p:nvSpPr>
        <p:spPr>
          <a:xfrm>
            <a:off x="868680" y="5029200"/>
            <a:ext cx="2926080" cy="4114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Product Positioning</a:t>
            </a:r>
            <a:endParaRPr lang="en-US" sz="2000" dirty="0"/>
          </a:p>
        </p:txBody>
      </p:sp>
      <p:sp>
        <p:nvSpPr>
          <p:cNvPr id="22" name="Text 16"/>
          <p:cNvSpPr txBox="1"/>
          <p:nvPr/>
        </p:nvSpPr>
        <p:spPr>
          <a:xfrm>
            <a:off x="868680" y="5486400"/>
            <a:ext cx="2926080" cy="594360"/>
          </a:xfrm>
          <a:prstGeom prst="rect">
            <a:avLst/>
          </a:prstGeom>
          <a:noFill/>
          <a:ln/>
        </p:spPr>
        <p:txBody>
          <a:bodyPr wrap="square" lIns="0" tIns="0" rIns="0" bIns="0" rtlCol="0" anchor="t"/>
          <a:lstStyle/>
          <a:p>
            <a:pPr marL="0" indent="0">
              <a:buNone/>
            </a:pPr>
            <a:r>
              <a:rPr lang="en-US" sz="1400" dirty="0">
                <a:solidFill>
                  <a:schemeClr val="accent4"/>
                </a:solidFill>
                <a:latin typeface="Calibri" pitchFamily="34" charset="0"/>
                <a:ea typeface="Calibri" pitchFamily="34" charset="-122"/>
                <a:cs typeface="Calibri" pitchFamily="34" charset="-120"/>
              </a:rPr>
              <a:t>Feature top-rated items; bundle Outerwear with Clothing</a:t>
            </a:r>
            <a:endParaRPr lang="en-US" sz="1400" dirty="0"/>
          </a:p>
        </p:txBody>
      </p:sp>
      <p:sp>
        <p:nvSpPr>
          <p:cNvPr id="23" name="Recommendation card 5"/>
          <p:cNvSpPr/>
          <p:nvPr/>
        </p:nvSpPr>
        <p:spPr>
          <a:xfrm>
            <a:off x="4297680" y="3931920"/>
            <a:ext cx="3566160" cy="2240280"/>
          </a:xfrm>
          <a:prstGeom prst="roundRect">
            <a:avLst>
              <a:gd name="adj" fmla="val 4898"/>
            </a:avLst>
          </a:prstGeom>
          <a:solidFill>
            <a:schemeClr val="bg2"/>
          </a:solidFill>
          <a:ln/>
        </p:spPr>
        <p:txBody>
          <a:bodyPr/>
          <a:lstStyle/>
          <a:p>
            <a:endParaRPr lang="en-IN"/>
          </a:p>
        </p:txBody>
      </p:sp>
      <p:sp>
        <p:nvSpPr>
          <p:cNvPr id="24" name="Recommendation icon 5 circle"/>
          <p:cNvSpPr/>
          <p:nvPr/>
        </p:nvSpPr>
        <p:spPr>
          <a:xfrm>
            <a:off x="4617720" y="4251960"/>
            <a:ext cx="640080" cy="640080"/>
          </a:xfrm>
          <a:prstGeom prst="ellipse">
            <a:avLst/>
          </a:prstGeom>
          <a:solidFill>
            <a:schemeClr val="accent1"/>
          </a:solidFill>
          <a:ln/>
        </p:spPr>
        <p:txBody>
          <a:bodyPr/>
          <a:lstStyle/>
          <a:p>
            <a:endParaRPr lang="en-IN"/>
          </a:p>
        </p:txBody>
      </p:sp>
      <p:pic>
        <p:nvPicPr>
          <p:cNvPr id="25" name="Image 4" descr="Recommendation icon 5"/>
          <p:cNvPicPr>
            <a:picLocks noChangeAspect="1"/>
          </p:cNvPicPr>
          <p:nvPr/>
        </p:nvPicPr>
        <p:blipFill>
          <a:blip r:embed="rId7"/>
          <a:stretch>
            <a:fillRect/>
          </a:stretch>
        </p:blipFill>
        <p:spPr>
          <a:xfrm>
            <a:off x="4784141" y="4418381"/>
            <a:ext cx="307238" cy="307238"/>
          </a:xfrm>
          <a:prstGeom prst="rect">
            <a:avLst/>
          </a:prstGeom>
        </p:spPr>
      </p:pic>
      <p:sp>
        <p:nvSpPr>
          <p:cNvPr id="26" name="Text 19"/>
          <p:cNvSpPr txBox="1"/>
          <p:nvPr/>
        </p:nvSpPr>
        <p:spPr>
          <a:xfrm>
            <a:off x="4617720" y="5029200"/>
            <a:ext cx="2926080" cy="4114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Seasonal Timing</a:t>
            </a:r>
            <a:endParaRPr lang="en-US" sz="2000" dirty="0"/>
          </a:p>
        </p:txBody>
      </p:sp>
      <p:sp>
        <p:nvSpPr>
          <p:cNvPr id="27" name="Text 20"/>
          <p:cNvSpPr txBox="1"/>
          <p:nvPr/>
        </p:nvSpPr>
        <p:spPr>
          <a:xfrm>
            <a:off x="4617720" y="5486400"/>
            <a:ext cx="2926080" cy="594360"/>
          </a:xfrm>
          <a:prstGeom prst="rect">
            <a:avLst/>
          </a:prstGeom>
          <a:noFill/>
          <a:ln/>
        </p:spPr>
        <p:txBody>
          <a:bodyPr wrap="square" lIns="0" tIns="0" rIns="0" bIns="0" rtlCol="0" anchor="t"/>
          <a:lstStyle/>
          <a:p>
            <a:pPr marL="0" indent="0">
              <a:buNone/>
            </a:pPr>
            <a:r>
              <a:rPr lang="en-US" sz="1400" dirty="0">
                <a:solidFill>
                  <a:schemeClr val="accent4"/>
                </a:solidFill>
                <a:latin typeface="Calibri" pitchFamily="34" charset="0"/>
                <a:ea typeface="Calibri" pitchFamily="34" charset="-122"/>
                <a:cs typeface="Calibri" pitchFamily="34" charset="-120"/>
              </a:rPr>
              <a:t>Concentrate stock and campaigns ahead of Fall</a:t>
            </a:r>
            <a:endParaRPr lang="en-US" sz="1400" dirty="0"/>
          </a:p>
        </p:txBody>
      </p:sp>
      <p:sp>
        <p:nvSpPr>
          <p:cNvPr id="28" name="Recommendation card 6"/>
          <p:cNvSpPr/>
          <p:nvPr/>
        </p:nvSpPr>
        <p:spPr>
          <a:xfrm>
            <a:off x="8046720" y="3931920"/>
            <a:ext cx="3566160" cy="2240280"/>
          </a:xfrm>
          <a:prstGeom prst="roundRect">
            <a:avLst>
              <a:gd name="adj" fmla="val 4898"/>
            </a:avLst>
          </a:prstGeom>
          <a:solidFill>
            <a:schemeClr val="bg2"/>
          </a:solidFill>
          <a:ln/>
        </p:spPr>
        <p:txBody>
          <a:bodyPr/>
          <a:lstStyle/>
          <a:p>
            <a:endParaRPr lang="en-IN"/>
          </a:p>
        </p:txBody>
      </p:sp>
      <p:sp>
        <p:nvSpPr>
          <p:cNvPr id="29" name="Recommendation icon 6 circle"/>
          <p:cNvSpPr/>
          <p:nvPr/>
        </p:nvSpPr>
        <p:spPr>
          <a:xfrm>
            <a:off x="8366760" y="4251960"/>
            <a:ext cx="640080" cy="640080"/>
          </a:xfrm>
          <a:prstGeom prst="ellipse">
            <a:avLst/>
          </a:prstGeom>
          <a:solidFill>
            <a:schemeClr val="accent1"/>
          </a:solidFill>
          <a:ln/>
        </p:spPr>
        <p:txBody>
          <a:bodyPr/>
          <a:lstStyle/>
          <a:p>
            <a:endParaRPr lang="en-IN"/>
          </a:p>
        </p:txBody>
      </p:sp>
      <p:pic>
        <p:nvPicPr>
          <p:cNvPr id="30" name="Image 5" descr="Recommendation icon 6"/>
          <p:cNvPicPr>
            <a:picLocks noChangeAspect="1"/>
          </p:cNvPicPr>
          <p:nvPr/>
        </p:nvPicPr>
        <p:blipFill>
          <a:blip r:embed="rId8"/>
          <a:stretch>
            <a:fillRect/>
          </a:stretch>
        </p:blipFill>
        <p:spPr>
          <a:xfrm>
            <a:off x="8533181" y="4418381"/>
            <a:ext cx="307238" cy="307238"/>
          </a:xfrm>
          <a:prstGeom prst="rect">
            <a:avLst/>
          </a:prstGeom>
        </p:spPr>
      </p:pic>
      <p:sp>
        <p:nvSpPr>
          <p:cNvPr id="31" name="Text 23"/>
          <p:cNvSpPr txBox="1"/>
          <p:nvPr/>
        </p:nvSpPr>
        <p:spPr>
          <a:xfrm>
            <a:off x="8366760" y="5029200"/>
            <a:ext cx="2926080" cy="4114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Targeted Marketing</a:t>
            </a:r>
            <a:endParaRPr lang="en-US" sz="2000" dirty="0"/>
          </a:p>
        </p:txBody>
      </p:sp>
      <p:sp>
        <p:nvSpPr>
          <p:cNvPr id="32" name="Text 24"/>
          <p:cNvSpPr txBox="1"/>
          <p:nvPr/>
        </p:nvSpPr>
        <p:spPr>
          <a:xfrm>
            <a:off x="8366760" y="5486400"/>
            <a:ext cx="2926080" cy="594360"/>
          </a:xfrm>
          <a:prstGeom prst="rect">
            <a:avLst/>
          </a:prstGeom>
          <a:noFill/>
          <a:ln/>
        </p:spPr>
        <p:txBody>
          <a:bodyPr wrap="square" lIns="0" tIns="0" rIns="0" bIns="0" rtlCol="0" anchor="t"/>
          <a:lstStyle/>
          <a:p>
            <a:pPr marL="0" indent="0">
              <a:buNone/>
            </a:pPr>
            <a:r>
              <a:rPr lang="en-US" sz="1400" dirty="0">
                <a:solidFill>
                  <a:schemeClr val="accent4"/>
                </a:solidFill>
                <a:latin typeface="Calibri" pitchFamily="34" charset="0"/>
                <a:ea typeface="Calibri" pitchFamily="34" charset="-122"/>
                <a:cs typeface="Calibri" pitchFamily="34" charset="-120"/>
              </a:rPr>
              <a:t>Focus on Young Adults and grow female customers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Dark Gradient</Template>
  <TotalTime>3</TotalTime>
  <Words>1426</Words>
  <Application>Microsoft Office PowerPoint</Application>
  <PresentationFormat>Widescreen</PresentationFormat>
  <Paragraphs>168</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Aptos Display</vt:lpstr>
      <vt:lpstr>Arial</vt:lpstr>
      <vt:lpstr>Calibri</vt:lpstr>
      <vt:lpstr>Cambria</vt:lpstr>
      <vt:lpstr>Office Theme</vt:lpstr>
      <vt:lpstr>PowerPoint Presentation</vt:lpstr>
      <vt:lpstr>Dataset Overview</vt:lpstr>
      <vt:lpstr>Data Preparation Process</vt:lpstr>
      <vt:lpstr>Revenue by Gender</vt:lpstr>
      <vt:lpstr>High-Value Discount Users</vt:lpstr>
      <vt:lpstr>Top-Rated Products</vt:lpstr>
      <vt:lpstr>Shipping Preferences Impact</vt:lpstr>
      <vt:lpstr>Subscription Impact</vt:lpstr>
      <vt:lpstr>Customer Segmentation</vt:lpstr>
      <vt:lpstr>Category and Seasonal Performance</vt:lpstr>
      <vt:lpstr>Strategic Recommendations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Shopping Behavior Analysis</dc:title>
  <dc:subject>PptxGenJS Presentation</dc:subject>
  <dc:creator>Customer Shopping Behavior Analysis Project</dc:creator>
  <cp:lastModifiedBy>Dhanraj Patil</cp:lastModifiedBy>
  <cp:revision>2</cp:revision>
  <dcterms:created xsi:type="dcterms:W3CDTF">2026-10-19T06:40:01Z</dcterms:created>
  <dcterms:modified xsi:type="dcterms:W3CDTF">2026-10-19T06:47:20Z</dcterms:modified>
</cp:coreProperties>
</file>